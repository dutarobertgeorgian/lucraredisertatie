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9" r:id="rId1"/>
  </p:sldMasterIdLst>
  <p:notesMasterIdLst>
    <p:notesMasterId r:id="rId23"/>
  </p:notesMasterIdLst>
  <p:sldIdLst>
    <p:sldId id="256" r:id="rId2"/>
    <p:sldId id="258" r:id="rId3"/>
    <p:sldId id="267" r:id="rId4"/>
    <p:sldId id="257" r:id="rId5"/>
    <p:sldId id="297" r:id="rId6"/>
    <p:sldId id="330" r:id="rId7"/>
    <p:sldId id="324" r:id="rId8"/>
    <p:sldId id="298" r:id="rId9"/>
    <p:sldId id="323" r:id="rId10"/>
    <p:sldId id="300" r:id="rId11"/>
    <p:sldId id="271" r:id="rId12"/>
    <p:sldId id="314" r:id="rId13"/>
    <p:sldId id="312" r:id="rId14"/>
    <p:sldId id="331" r:id="rId15"/>
    <p:sldId id="333" r:id="rId16"/>
    <p:sldId id="321" r:id="rId17"/>
    <p:sldId id="332" r:id="rId18"/>
    <p:sldId id="316" r:id="rId19"/>
    <p:sldId id="322" r:id="rId20"/>
    <p:sldId id="326" r:id="rId21"/>
    <p:sldId id="266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6EC1"/>
    <a:srgbClr val="002060"/>
    <a:srgbClr val="8CCDFE"/>
    <a:srgbClr val="00339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D6A00C-9C9A-4A88-A3BD-DCF735E22315}">
  <a:tblStyle styleId="{0FD6A00C-9C9A-4A88-A3BD-DCF735E223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242" autoAdjust="0"/>
  </p:normalViewPr>
  <p:slideViewPr>
    <p:cSldViewPr snapToGrid="0">
      <p:cViewPr varScale="1">
        <p:scale>
          <a:sx n="99" d="100"/>
          <a:sy n="99" d="100"/>
        </p:scale>
        <p:origin x="99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e13d9a7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e13d9a7e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Prezentarea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structurata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sase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capitole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 Voi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incepe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cu o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introducere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contextul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tehnologiei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5G.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Apoi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voi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trece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prin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fundamentele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Open RAN,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dupa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care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voi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descrie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arhitectura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sistemului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pe care l-am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propus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Partea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doua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practica,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acopera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setup-ul experimental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metodologia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testare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urmata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rezultatele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masuratorilor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interpretarea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lor. Voi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incheia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cu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concluziile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cu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directiile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dezvoltare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ulterioare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3C404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3e13d9a7e_0_79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3e13d9a7e_0_79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e13d9a7e_0_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3e13d9a7e_0_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Tehnologia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5G a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aparut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ca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raspuns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cerinte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care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cresc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constant: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vrem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debite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tot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mari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latente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tot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mici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posibilitatea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a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conecta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numar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mare de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dispozitive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Problema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ca, in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retelele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acces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radio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traditionale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partea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hardware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partea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software sunt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strans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integrate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provin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de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regula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de la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acelasi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producator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Asta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inseamna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flexibilitate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redusa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dependenta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puternica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un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singur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furnizor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fenomenul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vendor lock-in.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Aici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intervine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Open RAN: o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arhitectura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deschisa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interoperabila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scalabila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care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desparte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aceste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componente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care se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potriveste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foarte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bine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cerintelor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retelelor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5G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moderne</a:t>
            </a:r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sz="9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3e13d9a7e_0_79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3e13d9a7e_0_79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Inainte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implementarea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propriu-zisa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trebuie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clarificate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cateva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concepte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baza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care ne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ajuta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intelegem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cum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functioneaza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fapt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o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arhitectura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open RAN.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7403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>
          <a:extLst>
            <a:ext uri="{FF2B5EF4-FFF2-40B4-BE49-F238E27FC236}">
              <a16:creationId xmlns:a16="http://schemas.microsoft.com/office/drawing/2014/main" id="{D68D5B41-E433-1FFE-C088-8AB21A25A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5465e7bc0b_1_354:notes">
            <a:extLst>
              <a:ext uri="{FF2B5EF4-FFF2-40B4-BE49-F238E27FC236}">
                <a16:creationId xmlns:a16="http://schemas.microsoft.com/office/drawing/2014/main" id="{5853D39A-3FC1-EB12-4B94-938D4A8A80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5465e7bc0b_1_354:notes">
            <a:extLst>
              <a:ext uri="{FF2B5EF4-FFF2-40B4-BE49-F238E27FC236}">
                <a16:creationId xmlns:a16="http://schemas.microsoft.com/office/drawing/2014/main" id="{2285E946-481F-96DD-B2A4-D587DDB45F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algn="just">
              <a:buNone/>
            </a:pP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Ideea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centrala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puteti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vedea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 imagine. In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stanga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avem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modelul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traditional: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reteaua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centrala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acces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sunt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blocuri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integrate,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adica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hardware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software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funct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impreuna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Open RAN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propune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exact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opusul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printr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-un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principiu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numit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dezagregare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software-ul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desprins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platforma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hardware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fi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dezvoltat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implementat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independent.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Astfel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castigam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flexibilitate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putem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folosi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echipamente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aplicatii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la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furnizori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diferiti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Astfel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apare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al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doilea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element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esențial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virtualizarea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funcțiile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rețelei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acces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nu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rulează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echipamente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dedicate, ci ca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aplicații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software.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Acum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odată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am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separat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aceste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funcții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trebuie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totuși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să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comunice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între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și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aici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intervin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interfețele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deschise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7656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just">
              <a:buNone/>
            </a:pP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functiile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principale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ale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retelei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sunt separate in 3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componente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unitatea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radio,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unitatea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distribuita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unitatea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centralizata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Ce le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leaga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sunt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interfetele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deschise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standardizate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vizibile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diagrama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Open Fronthaul,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intre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unitatea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radio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distribuita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; Open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Midhaul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intre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unitatea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distribuita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centralizata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;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Open Backhaul, care face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legatura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cu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nucleul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retelei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Tocmai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aceste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interfete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sunt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standardizate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componentele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pot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proveni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la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producatori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diferiti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asta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voi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demonstra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continuare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practic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363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3e13d9a7e_0_79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3e13d9a7e_0_79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69448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3e13d9a7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3e13d9a7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Componenta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principala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sistemului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un server pe care,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prin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virtualizare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ruleaza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majoritatea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functiilor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logice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pe de o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parte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nucleul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5G,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realizat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cu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solutia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open-source Open5GS,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iar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pe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alta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parte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functiile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virtualizate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la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Accelleran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care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implementeaza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unitatea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centralizata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distribuita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controler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inteligent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Unitatea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radio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modelul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Benetel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RAN550,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conectata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la server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prin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interfata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Open Fronthaul.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Intregul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functioneaza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 mod 5G Standalone, are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sincronizare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prin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GPS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iese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catre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internet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printr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-un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echipament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Huawei 5G CPE.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Practic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aici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vede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deja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interoperabilitatea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hardware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Benetel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software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Accelleran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nucleu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Open5GS,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multi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furnizori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diferiti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functionand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impreuna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15989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3e13d9a7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3e13d9a7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detaliem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elementele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fizice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principale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Unitatea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radio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Benetel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RAN550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conectata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prin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fibra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optica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direct la server,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ceea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asigura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legatura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fronthaul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mentine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latentele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transmisie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reduse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Serverul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gazduieste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masinile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virtuale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adica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partea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vRAN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nucleul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5G.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Iar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al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treilea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element,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putin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evident,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critic,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sursa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sincronizare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GPS: care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aliniaza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cu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precizie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cadrele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timp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regim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TDD,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iar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fara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conexiunea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pur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simplu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nu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ramane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stabila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Voi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reveni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asupra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acestui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aspect la final,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fiindca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fost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dintre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provocarile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reale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ale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proiectului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15989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5465e7bc0b_1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5465e7bc0b_1_3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Lantul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comunicatie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completeaza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cu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doua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echipamente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Terminalul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test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un smartphone Motorola Edge 50 Pro, ales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suporta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nativ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modul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5G Standalone in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banda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n78 —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simuleaza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utilizatorul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real.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Iar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routerul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Huawei 5G CPE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asigura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legatura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dintre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reteaua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noastra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privata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laborator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internet.</a:t>
            </a: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just">
              <a:buNone/>
            </a:pP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Primul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pas 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fost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confirm ca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reteaua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functioneaza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exact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asa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cum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trebuie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In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captura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meniul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service al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telefonului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parametrul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cel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important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tipul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retelei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apare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«NR_SA»,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ceea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confirma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terminalul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conectat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la o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retea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5G Standalone,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complet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independenta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infrastructura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LTE.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Nivelul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semnalului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de minus 66 dBm, indica o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conexiune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foarte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stabila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in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conditii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favorabile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propagare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ceea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firesc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intr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-un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scenariu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laborator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cu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vizibilitate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directa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In plus,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terminalul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opereaza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banda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n78,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banda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folosita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platforma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noastra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Cu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alte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cuvinte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inainte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orice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masuratoare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m-am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asigurat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testez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intr-adevar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retea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5G 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4999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EC7C0-1305-F6D9-CD95-3A88CAB1C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91FAD-073B-1C0D-3551-B06235C66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119D56-BD96-BAEA-DDFB-3A95C84DC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testele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s-au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desfasurat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laborator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cu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terminalul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cu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infrastructura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Open RAN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descrisa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anterior. Am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evaluat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indicatorii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relevanti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performanta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debitul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pe downlink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pe uplink,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latenta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jitter-ul.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masura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aceste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valori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am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folosit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aplicatii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precum,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Speedtest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nPerf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obtine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date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relevante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am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repetat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procedura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multe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sesiuni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succesive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2883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Am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realizat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11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sesiuni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test.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Două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observații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generale: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în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primul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rând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latența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și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jitter-ul s-au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menținut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valori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reduse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și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constante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pe tot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parcursul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testelor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Și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în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al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doilea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rând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valorile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au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fost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stabile pe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sesiunile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adica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nu am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avut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variații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bruște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la o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rundă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alta.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Asta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confirmă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că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rețeaua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comportă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predictibil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în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funcționare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continuă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37685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>
          <a:extLst>
            <a:ext uri="{FF2B5EF4-FFF2-40B4-BE49-F238E27FC236}">
              <a16:creationId xmlns:a16="http://schemas.microsoft.com/office/drawing/2014/main" id="{AF136AD8-E695-5D65-9F70-BD3E2B2ED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5465e7bc0b_1_354:notes">
            <a:extLst>
              <a:ext uri="{FF2B5EF4-FFF2-40B4-BE49-F238E27FC236}">
                <a16:creationId xmlns:a16="http://schemas.microsoft.com/office/drawing/2014/main" id="{F13FE1B5-8EDE-0F9F-678A-5B5C3E4A44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5465e7bc0b_1_354:notes">
            <a:extLst>
              <a:ext uri="{FF2B5EF4-FFF2-40B4-BE49-F238E27FC236}">
                <a16:creationId xmlns:a16="http://schemas.microsoft.com/office/drawing/2014/main" id="{C776A096-A84F-2862-C731-34C9473B52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 imagine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dovada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concreta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cu o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valoare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vârf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Pe downlink, am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atins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un debit maxim de 490,52 Mbps,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măsurat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cu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aplicația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nPerf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iar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în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partea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jos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capturii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vede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confirmarea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modul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«5G SA», pe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rețeaua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Accelleran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Acest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detaliu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important,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că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demonstreaza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faptul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că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viteza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fost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obținută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integral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prin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lanțul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nostru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Open RAN,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și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nu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printr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-o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rețea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publica. Pe uplink,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valorile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au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fost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bune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și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stabile,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în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jur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35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până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la 40 de Mbps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în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regim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mediu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În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ansamblu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rezultatele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confirmă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funcționarea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stabilă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rețelei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5G Standalone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bazate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pe Open RAN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2472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Implementarea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scos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iveala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cateva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aspecte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importante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In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primul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rand,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reteaua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depinde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critic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precizia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GPS,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orice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mica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deviatie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acestui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semnal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GPS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duce la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pierderea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alinierii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cadrelor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degradarea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conexiunii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Sincronizarea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nu e un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detaliu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ci o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conditie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functionare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In al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doilea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rand,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faptul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ca am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rulat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functiile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pe un server cu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resurse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partajate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explica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variatiile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timpului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raspuns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valorile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ocazional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mari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jitter —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atunci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cand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procesorul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incarcat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cu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alte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procese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aici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recomandarea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fireasca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stabilitate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maxima,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fi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indicat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un server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dedicat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exclusiv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procesarii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radio.</a:t>
            </a:r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7075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>
          <a:extLst>
            <a:ext uri="{FF2B5EF4-FFF2-40B4-BE49-F238E27FC236}">
              <a16:creationId xmlns:a16="http://schemas.microsoft.com/office/drawing/2014/main" id="{A322CC6A-1739-FFF6-3CAB-CB07637AF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5465e7bc0b_1_354:notes">
            <a:extLst>
              <a:ext uri="{FF2B5EF4-FFF2-40B4-BE49-F238E27FC236}">
                <a16:creationId xmlns:a16="http://schemas.microsoft.com/office/drawing/2014/main" id="{A3A79D2D-1F5C-6FB4-E3E9-3D642FDF9B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5465e7bc0b_1_354:notes">
            <a:extLst>
              <a:ext uri="{FF2B5EF4-FFF2-40B4-BE49-F238E27FC236}">
                <a16:creationId xmlns:a16="http://schemas.microsoft.com/office/drawing/2014/main" id="{0B54AEF7-1218-47F2-BD5C-8F6AD8DF63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asadar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ca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concluzii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Am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demonstrat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practic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functionarea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stabila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unei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infrastructuri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5G Standalone Open RAN multi-vendor, integrand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unitatea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radio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Benetel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solutia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virtualizata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Accelleran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reteaua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centrala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Rezultatele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experimentale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cu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viteze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pana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aproximativ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490 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megabiti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pe secunda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latente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stabile,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confirma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ca Open RAN nu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doar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un concept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teoretic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ci o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arhitectura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viabila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 practica. Cat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despre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viitor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putem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extinde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testarea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cu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multi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utilizatori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simultan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distribuirea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componentelor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RAN pe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servere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diferite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0689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3e13d9a7e_0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3e13d9a7e_0_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RU (</a:t>
            </a:r>
            <a:r>
              <a:rPr lang="en-US" b="1" dirty="0" err="1"/>
              <a:t>Benetel</a:t>
            </a:r>
            <a:r>
              <a:rPr lang="en-US" b="1" dirty="0"/>
              <a:t>)</a:t>
            </a:r>
            <a:r>
              <a:rPr lang="en-US" dirty="0"/>
              <a:t> = </a:t>
            </a:r>
            <a:r>
              <a:rPr lang="en-US" dirty="0" err="1"/>
              <a:t>partea</a:t>
            </a:r>
            <a:r>
              <a:rPr lang="en-US" dirty="0"/>
              <a:t> radio - </a:t>
            </a:r>
            <a:r>
              <a:rPr lang="en-US" dirty="0" err="1"/>
              <a:t>comunicația</a:t>
            </a:r>
            <a:r>
              <a:rPr lang="en-US" dirty="0"/>
              <a:t> radio, RF, </a:t>
            </a:r>
            <a:r>
              <a:rPr lang="en-US" dirty="0" err="1"/>
              <a:t>antene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; </a:t>
            </a:r>
            <a:r>
              <a:rPr lang="en-US" b="1" dirty="0"/>
              <a:t>DU + CU (</a:t>
            </a:r>
            <a:r>
              <a:rPr lang="en-US" b="1" dirty="0" err="1"/>
              <a:t>Accelleran</a:t>
            </a:r>
            <a:r>
              <a:rPr lang="en-US" b="1" dirty="0"/>
              <a:t>)</a:t>
            </a:r>
            <a:r>
              <a:rPr lang="en-US" dirty="0"/>
              <a:t> = </a:t>
            </a:r>
            <a:r>
              <a:rPr lang="en-US" dirty="0" err="1"/>
              <a:t>partea</a:t>
            </a:r>
            <a:r>
              <a:rPr lang="en-US" dirty="0"/>
              <a:t> de </a:t>
            </a:r>
            <a:r>
              <a:rPr lang="en-US" dirty="0" err="1"/>
              <a:t>procesare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control (scheduling, </a:t>
            </a:r>
            <a:r>
              <a:rPr lang="en-US" dirty="0" err="1"/>
              <a:t>procesare</a:t>
            </a:r>
            <a:r>
              <a:rPr lang="en-US" dirty="0"/>
              <a:t> </a:t>
            </a:r>
            <a:r>
              <a:rPr lang="en-US" dirty="0" err="1"/>
              <a:t>semnal</a:t>
            </a:r>
            <a:r>
              <a:rPr lang="en-US" dirty="0"/>
              <a:t>, </a:t>
            </a:r>
            <a:r>
              <a:rPr lang="en-US" dirty="0" err="1"/>
              <a:t>gestionarea</a:t>
            </a:r>
            <a:r>
              <a:rPr lang="en-US" dirty="0"/>
              <a:t> </a:t>
            </a:r>
            <a:r>
              <a:rPr lang="en-US" dirty="0" err="1"/>
              <a:t>conexiunii</a:t>
            </a:r>
            <a:r>
              <a:rPr lang="en-US" dirty="0"/>
              <a:t>).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CUSTOM_7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575" y="1701225"/>
            <a:ext cx="45924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39575" y="3206400"/>
            <a:ext cx="240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2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423902" y="387473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423900" y="802521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2023007" y="654113"/>
            <a:ext cx="1739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ctrTitle" idx="3"/>
          </p:nvPr>
        </p:nvSpPr>
        <p:spPr>
          <a:xfrm>
            <a:off x="3425264" y="1224286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4"/>
          </p:nvPr>
        </p:nvSpPr>
        <p:spPr>
          <a:xfrm>
            <a:off x="3425259" y="1638859"/>
            <a:ext cx="19767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5" hasCustomPrompt="1"/>
          </p:nvPr>
        </p:nvSpPr>
        <p:spPr>
          <a:xfrm>
            <a:off x="2023007" y="1488788"/>
            <a:ext cx="1615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ctrTitle" idx="6"/>
          </p:nvPr>
        </p:nvSpPr>
        <p:spPr>
          <a:xfrm>
            <a:off x="3427999" y="2061098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7"/>
          </p:nvPr>
        </p:nvSpPr>
        <p:spPr>
          <a:xfrm>
            <a:off x="3427997" y="2475197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8" hasCustomPrompt="1"/>
          </p:nvPr>
        </p:nvSpPr>
        <p:spPr>
          <a:xfrm>
            <a:off x="2023007" y="2323463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ctrTitle" idx="9"/>
          </p:nvPr>
        </p:nvSpPr>
        <p:spPr>
          <a:xfrm rot="5400000">
            <a:off x="6601629" y="1646270"/>
            <a:ext cx="29133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ctrTitle" idx="13"/>
          </p:nvPr>
        </p:nvSpPr>
        <p:spPr>
          <a:xfrm>
            <a:off x="3427999" y="2897911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4"/>
          </p:nvPr>
        </p:nvSpPr>
        <p:spPr>
          <a:xfrm>
            <a:off x="3427997" y="3311534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15" hasCustomPrompt="1"/>
          </p:nvPr>
        </p:nvSpPr>
        <p:spPr>
          <a:xfrm>
            <a:off x="2023007" y="3158138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>
            <a:spLocks noGrp="1"/>
          </p:cNvSpPr>
          <p:nvPr>
            <p:ph type="ctrTitle" idx="16"/>
          </p:nvPr>
        </p:nvSpPr>
        <p:spPr>
          <a:xfrm>
            <a:off x="3427999" y="3734723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7"/>
          </p:nvPr>
        </p:nvSpPr>
        <p:spPr>
          <a:xfrm>
            <a:off x="3427997" y="4147872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 idx="18" hasCustomPrompt="1"/>
          </p:nvPr>
        </p:nvSpPr>
        <p:spPr>
          <a:xfrm>
            <a:off x="2023007" y="3992813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">
  <p:cSld name="CUSTOM_35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200250" y="1742750"/>
            <a:ext cx="2743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CUSTOM_38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>
            <a:spLocks noGrp="1"/>
          </p:cNvSpPr>
          <p:nvPr>
            <p:ph type="ctrTitle"/>
          </p:nvPr>
        </p:nvSpPr>
        <p:spPr>
          <a:xfrm>
            <a:off x="769725" y="1310050"/>
            <a:ext cx="3430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title" idx="2" hasCustomPrompt="1"/>
          </p:nvPr>
        </p:nvSpPr>
        <p:spPr>
          <a:xfrm rot="5400000">
            <a:off x="7142178" y="3570226"/>
            <a:ext cx="1738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">
  <p:cSld name="CUSTOM_30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656422" y="13944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656425" y="1886725"/>
            <a:ext cx="15639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ctrTitle" idx="2"/>
          </p:nvPr>
        </p:nvSpPr>
        <p:spPr>
          <a:xfrm>
            <a:off x="2650710" y="13944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3"/>
          </p:nvPr>
        </p:nvSpPr>
        <p:spPr>
          <a:xfrm>
            <a:off x="2610700" y="1886725"/>
            <a:ext cx="19614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ctrTitle" idx="4"/>
          </p:nvPr>
        </p:nvSpPr>
        <p:spPr>
          <a:xfrm>
            <a:off x="4638106" y="13944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5"/>
          </p:nvPr>
        </p:nvSpPr>
        <p:spPr>
          <a:xfrm>
            <a:off x="4878076" y="1886725"/>
            <a:ext cx="16482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ctrTitle" idx="6"/>
          </p:nvPr>
        </p:nvSpPr>
        <p:spPr>
          <a:xfrm rot="5400000">
            <a:off x="6865575" y="1466125"/>
            <a:ext cx="25530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ctrTitle" idx="7"/>
          </p:nvPr>
        </p:nvSpPr>
        <p:spPr>
          <a:xfrm>
            <a:off x="656422" y="33678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8"/>
          </p:nvPr>
        </p:nvSpPr>
        <p:spPr>
          <a:xfrm>
            <a:off x="656425" y="3860125"/>
            <a:ext cx="15639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ctrTitle" idx="9"/>
          </p:nvPr>
        </p:nvSpPr>
        <p:spPr>
          <a:xfrm>
            <a:off x="2650710" y="33678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3"/>
          </p:nvPr>
        </p:nvSpPr>
        <p:spPr>
          <a:xfrm>
            <a:off x="2610700" y="3860125"/>
            <a:ext cx="19614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ctrTitle" idx="14"/>
          </p:nvPr>
        </p:nvSpPr>
        <p:spPr>
          <a:xfrm>
            <a:off x="4638106" y="33678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5"/>
          </p:nvPr>
        </p:nvSpPr>
        <p:spPr>
          <a:xfrm>
            <a:off x="4878076" y="3860125"/>
            <a:ext cx="16482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CUSTOM_3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1">
  <p:cSld name="CUSTOM_2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subTitle" idx="1"/>
          </p:nvPr>
        </p:nvSpPr>
        <p:spPr>
          <a:xfrm>
            <a:off x="4633950" y="1847896"/>
            <a:ext cx="18180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subTitle" idx="2"/>
          </p:nvPr>
        </p:nvSpPr>
        <p:spPr>
          <a:xfrm>
            <a:off x="4633950" y="3827870"/>
            <a:ext cx="18180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ctrTitle"/>
          </p:nvPr>
        </p:nvSpPr>
        <p:spPr>
          <a:xfrm>
            <a:off x="4633950" y="1539296"/>
            <a:ext cx="26193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ctrTitle" idx="3"/>
          </p:nvPr>
        </p:nvSpPr>
        <p:spPr>
          <a:xfrm>
            <a:off x="4633950" y="3519270"/>
            <a:ext cx="26193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ctrTitle" idx="4"/>
          </p:nvPr>
        </p:nvSpPr>
        <p:spPr>
          <a:xfrm rot="5400000">
            <a:off x="6917175" y="1414524"/>
            <a:ext cx="24498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0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>
  <p:cSld name="CUSTOM_32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>
            <a:spLocks noGrp="1"/>
          </p:cNvSpPr>
          <p:nvPr>
            <p:ph type="subTitle" idx="1"/>
          </p:nvPr>
        </p:nvSpPr>
        <p:spPr>
          <a:xfrm>
            <a:off x="2258125" y="3106325"/>
            <a:ext cx="3029100" cy="10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ctrTitle"/>
          </p:nvPr>
        </p:nvSpPr>
        <p:spPr>
          <a:xfrm rot="5400000">
            <a:off x="7241489" y="1041025"/>
            <a:ext cx="17028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subTitle" idx="1"/>
          </p:nvPr>
        </p:nvSpPr>
        <p:spPr>
          <a:xfrm>
            <a:off x="1039575" y="3206400"/>
            <a:ext cx="240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Here is where your presentation begins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24" name="Google Shape;124;p24"/>
          <p:cNvSpPr/>
          <p:nvPr/>
        </p:nvSpPr>
        <p:spPr>
          <a:xfrm rot="5400000">
            <a:off x="3423873" y="-1940720"/>
            <a:ext cx="2296252" cy="9144000"/>
          </a:xfrm>
          <a:prstGeom prst="rect">
            <a:avLst/>
          </a:prstGeom>
          <a:solidFill>
            <a:srgbClr val="002060">
              <a:alpha val="861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6" name="Google Shape;126;p24"/>
          <p:cNvSpPr txBox="1">
            <a:spLocks noGrp="1"/>
          </p:cNvSpPr>
          <p:nvPr>
            <p:ph type="ctrTitle"/>
          </p:nvPr>
        </p:nvSpPr>
        <p:spPr>
          <a:xfrm>
            <a:off x="0" y="1808448"/>
            <a:ext cx="8164819" cy="226756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3800" dirty="0" err="1">
                <a:solidFill>
                  <a:schemeClr val="bg1"/>
                </a:solidFill>
              </a:rPr>
              <a:t>Evaluarea</a:t>
            </a:r>
            <a:r>
              <a:rPr lang="en-US" sz="3800" dirty="0">
                <a:solidFill>
                  <a:schemeClr val="bg1"/>
                </a:solidFill>
              </a:rPr>
              <a:t> </a:t>
            </a:r>
            <a:r>
              <a:rPr lang="en-US" sz="3800" dirty="0" err="1">
                <a:solidFill>
                  <a:schemeClr val="bg1"/>
                </a:solidFill>
              </a:rPr>
              <a:t>performanței</a:t>
            </a:r>
            <a:r>
              <a:rPr lang="en-US" sz="3800" dirty="0">
                <a:solidFill>
                  <a:schemeClr val="bg1"/>
                </a:solidFill>
              </a:rPr>
              <a:t> </a:t>
            </a:r>
            <a:r>
              <a:rPr lang="en-US" sz="3800" dirty="0" err="1">
                <a:solidFill>
                  <a:schemeClr val="bg1"/>
                </a:solidFill>
              </a:rPr>
              <a:t>unei</a:t>
            </a:r>
            <a:r>
              <a:rPr lang="en-US" sz="3800" dirty="0">
                <a:solidFill>
                  <a:schemeClr val="bg1"/>
                </a:solidFill>
              </a:rPr>
              <a:t> </a:t>
            </a:r>
            <a:r>
              <a:rPr lang="en-US" sz="3800" dirty="0" err="1">
                <a:solidFill>
                  <a:schemeClr val="bg1"/>
                </a:solidFill>
              </a:rPr>
              <a:t>rețele</a:t>
            </a:r>
            <a:r>
              <a:rPr lang="en-US" sz="3800" dirty="0">
                <a:solidFill>
                  <a:schemeClr val="bg1"/>
                </a:solidFill>
              </a:rPr>
              <a:t> 5G Standalone </a:t>
            </a:r>
            <a:r>
              <a:rPr lang="en-US" sz="3800" dirty="0" err="1">
                <a:solidFill>
                  <a:schemeClr val="bg1"/>
                </a:solidFill>
              </a:rPr>
              <a:t>comercială</a:t>
            </a:r>
            <a:r>
              <a:rPr lang="en-US" sz="3800" dirty="0">
                <a:solidFill>
                  <a:schemeClr val="bg1"/>
                </a:solidFill>
              </a:rPr>
              <a:t> </a:t>
            </a:r>
            <a:r>
              <a:rPr lang="en-US" sz="3800" dirty="0" err="1">
                <a:solidFill>
                  <a:schemeClr val="bg1"/>
                </a:solidFill>
              </a:rPr>
              <a:t>bazată</a:t>
            </a:r>
            <a:r>
              <a:rPr lang="en-US" sz="3800" dirty="0">
                <a:solidFill>
                  <a:schemeClr val="bg1"/>
                </a:solidFill>
              </a:rPr>
              <a:t> pe </a:t>
            </a:r>
            <a:r>
              <a:rPr lang="en-US" sz="3800" dirty="0" err="1">
                <a:solidFill>
                  <a:schemeClr val="bg1"/>
                </a:solidFill>
              </a:rPr>
              <a:t>arhitectura</a:t>
            </a:r>
            <a:r>
              <a:rPr lang="en-US" sz="3800" dirty="0">
                <a:solidFill>
                  <a:schemeClr val="bg1"/>
                </a:solidFill>
              </a:rPr>
              <a:t> Open RAN</a:t>
            </a:r>
            <a:br>
              <a:rPr lang="en-US" sz="3800" dirty="0">
                <a:solidFill>
                  <a:schemeClr val="bg1"/>
                </a:solidFill>
              </a:rPr>
            </a:br>
            <a:endParaRPr lang="ro-RO" sz="3800" dirty="0">
              <a:solidFill>
                <a:schemeClr val="bg1"/>
              </a:solidFill>
            </a:endParaRPr>
          </a:p>
        </p:txBody>
      </p:sp>
      <p:sp>
        <p:nvSpPr>
          <p:cNvPr id="9" name="Google Shape;124;p24">
            <a:extLst>
              <a:ext uri="{FF2B5EF4-FFF2-40B4-BE49-F238E27FC236}">
                <a16:creationId xmlns:a16="http://schemas.microsoft.com/office/drawing/2014/main" id="{B85D18FA-E2D1-4BC3-A318-B379D48EA806}"/>
              </a:ext>
            </a:extLst>
          </p:cNvPr>
          <p:cNvSpPr/>
          <p:nvPr/>
        </p:nvSpPr>
        <p:spPr>
          <a:xfrm rot="5400000">
            <a:off x="6082661" y="2082158"/>
            <a:ext cx="5143497" cy="979181"/>
          </a:xfrm>
          <a:prstGeom prst="rect">
            <a:avLst/>
          </a:prstGeom>
          <a:solidFill>
            <a:srgbClr val="002060">
              <a:alpha val="861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Google Shape;206;p28">
            <a:extLst>
              <a:ext uri="{FF2B5EF4-FFF2-40B4-BE49-F238E27FC236}">
                <a16:creationId xmlns:a16="http://schemas.microsoft.com/office/drawing/2014/main" id="{408CD16B-E5D4-4D2E-BBFF-1C10393B1AD8}"/>
              </a:ext>
            </a:extLst>
          </p:cNvPr>
          <p:cNvSpPr txBox="1">
            <a:spLocks/>
          </p:cNvSpPr>
          <p:nvPr/>
        </p:nvSpPr>
        <p:spPr>
          <a:xfrm>
            <a:off x="468858" y="119062"/>
            <a:ext cx="8206282" cy="1297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rgbClr val="000000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Catamaran Light"/>
              <a:buNone/>
              <a:defRPr sz="2800" b="0" i="0" u="none" strike="noStrike" cap="none">
                <a:solidFill>
                  <a:srgbClr val="434343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Catamaran Light"/>
              <a:buNone/>
              <a:defRPr sz="2800" b="0" i="0" u="none" strike="noStrike" cap="none">
                <a:solidFill>
                  <a:srgbClr val="434343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Catamaran Light"/>
              <a:buNone/>
              <a:defRPr sz="2800" b="0" i="0" u="none" strike="noStrike" cap="none">
                <a:solidFill>
                  <a:srgbClr val="434343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Catamaran Light"/>
              <a:buNone/>
              <a:defRPr sz="2800" b="0" i="0" u="none" strike="noStrike" cap="none">
                <a:solidFill>
                  <a:srgbClr val="434343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Catamaran Light"/>
              <a:buNone/>
              <a:defRPr sz="2800" b="0" i="0" u="none" strike="noStrike" cap="none">
                <a:solidFill>
                  <a:srgbClr val="434343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Catamaran Light"/>
              <a:buNone/>
              <a:defRPr sz="2800" b="0" i="0" u="none" strike="noStrike" cap="none">
                <a:solidFill>
                  <a:srgbClr val="434343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Catamaran Light"/>
              <a:buNone/>
              <a:defRPr sz="2800" b="0" i="0" u="none" strike="noStrike" cap="none">
                <a:solidFill>
                  <a:srgbClr val="434343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Catamaran Light"/>
              <a:buNone/>
              <a:defRPr sz="2800" b="0" i="0" u="none" strike="noStrike" cap="none">
                <a:solidFill>
                  <a:srgbClr val="434343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n-US" b="1" dirty="0">
                <a:solidFill>
                  <a:srgbClr val="002060"/>
                </a:solidFill>
              </a:rPr>
              <a:t>UNIVERSITATEA </a:t>
            </a:r>
            <a:r>
              <a:rPr lang="ro-RO" b="1" dirty="0">
                <a:solidFill>
                  <a:srgbClr val="002060"/>
                </a:solidFill>
              </a:rPr>
              <a:t>NAȚIONALĂ DE ȘTIINȚĂ ȘI TEHNOLOGIE </a:t>
            </a:r>
            <a:r>
              <a:rPr lang="en-US" b="1" dirty="0">
                <a:solidFill>
                  <a:srgbClr val="002060"/>
                </a:solidFill>
              </a:rPr>
              <a:t>“POLITEHNICA” DIN BUCUREȘTI</a:t>
            </a:r>
          </a:p>
          <a:p>
            <a:pPr algn="ctr">
              <a:spcBef>
                <a:spcPts val="600"/>
              </a:spcBef>
            </a:pPr>
            <a:endParaRPr lang="en-US" b="1" dirty="0">
              <a:solidFill>
                <a:srgbClr val="002060"/>
              </a:solidFill>
            </a:endParaRPr>
          </a:p>
          <a:p>
            <a:pPr algn="ctr">
              <a:spcBef>
                <a:spcPts val="600"/>
              </a:spcBef>
            </a:pPr>
            <a:r>
              <a:rPr lang="en-US" b="1" dirty="0">
                <a:solidFill>
                  <a:srgbClr val="002060"/>
                </a:solidFill>
              </a:rPr>
              <a:t>FACULTATEA DE ELECTRONICĂ, TELECOMUNICAȚII ȘI TEHNOLOGIA INFORMAȚIEI</a:t>
            </a:r>
          </a:p>
          <a:p>
            <a:pPr algn="ctr">
              <a:spcBef>
                <a:spcPts val="600"/>
              </a:spcBef>
            </a:pPr>
            <a:r>
              <a:rPr lang="en-US" sz="1600" b="1" dirty="0">
                <a:solidFill>
                  <a:srgbClr val="002060"/>
                </a:solidFill>
              </a:rPr>
              <a:t>MASTER COMUNICAȚII MOBILE</a:t>
            </a:r>
            <a:endParaRPr lang="ro-RO" sz="1600" b="1" dirty="0">
              <a:solidFill>
                <a:srgbClr val="002060"/>
              </a:solidFill>
            </a:endParaRPr>
          </a:p>
          <a:p>
            <a:pPr algn="ctr">
              <a:spcBef>
                <a:spcPts val="600"/>
              </a:spcBef>
            </a:pPr>
            <a:endParaRPr lang="ro-RO" b="1" dirty="0">
              <a:solidFill>
                <a:srgbClr val="00206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0C1E4D-0B44-4AFB-865C-D3D7C7E74FE9}"/>
              </a:ext>
            </a:extLst>
          </p:cNvPr>
          <p:cNvSpPr/>
          <p:nvPr/>
        </p:nvSpPr>
        <p:spPr>
          <a:xfrm>
            <a:off x="273524" y="3940682"/>
            <a:ext cx="4770190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rgbClr val="002060"/>
                </a:solidFill>
                <a:latin typeface="Catamaran Light"/>
              </a:rPr>
              <a:t>Student: </a:t>
            </a:r>
            <a:r>
              <a:rPr lang="en-US" b="1" dirty="0" err="1">
                <a:solidFill>
                  <a:srgbClr val="002060"/>
                </a:solidFill>
                <a:latin typeface="Catamaran Light"/>
              </a:rPr>
              <a:t>Duță</a:t>
            </a:r>
            <a:r>
              <a:rPr lang="en-US" b="1" dirty="0">
                <a:solidFill>
                  <a:srgbClr val="002060"/>
                </a:solidFill>
                <a:latin typeface="Catamaran Light"/>
              </a:rPr>
              <a:t> Robert-Georgian</a:t>
            </a:r>
          </a:p>
          <a:p>
            <a:pPr>
              <a:spcBef>
                <a:spcPts val="600"/>
              </a:spcBef>
            </a:pPr>
            <a:endParaRPr lang="en-US" b="1" dirty="0">
              <a:solidFill>
                <a:srgbClr val="002060"/>
              </a:solidFill>
              <a:latin typeface="Catamaran Light"/>
            </a:endParaRPr>
          </a:p>
          <a:p>
            <a:pPr>
              <a:spcBef>
                <a:spcPts val="600"/>
              </a:spcBef>
            </a:pPr>
            <a:r>
              <a:rPr lang="en-US" b="1" dirty="0" err="1">
                <a:solidFill>
                  <a:srgbClr val="002060"/>
                </a:solidFill>
                <a:latin typeface="Catamaran Light"/>
              </a:rPr>
              <a:t>Conducători</a:t>
            </a:r>
            <a:r>
              <a:rPr lang="en-US" b="1" dirty="0">
                <a:solidFill>
                  <a:srgbClr val="002060"/>
                </a:solidFill>
                <a:latin typeface="Catamaran Light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Catamaran Light"/>
              </a:rPr>
              <a:t>științifici</a:t>
            </a:r>
            <a:r>
              <a:rPr lang="en-US" b="1" dirty="0">
                <a:solidFill>
                  <a:srgbClr val="002060"/>
                </a:solidFill>
                <a:latin typeface="Catamaran Light"/>
              </a:rPr>
              <a:t>: Prof. dr. </a:t>
            </a:r>
            <a:r>
              <a:rPr lang="en-US" b="1" dirty="0" err="1">
                <a:solidFill>
                  <a:srgbClr val="002060"/>
                </a:solidFill>
                <a:latin typeface="Catamaran Light"/>
              </a:rPr>
              <a:t>ing</a:t>
            </a:r>
            <a:r>
              <a:rPr lang="en-US" b="1" dirty="0">
                <a:solidFill>
                  <a:srgbClr val="002060"/>
                </a:solidFill>
                <a:latin typeface="Catamaran Light"/>
              </a:rPr>
              <a:t>. Alexandru MARȚIAN</a:t>
            </a:r>
          </a:p>
          <a:p>
            <a:pPr>
              <a:spcBef>
                <a:spcPts val="600"/>
              </a:spcBef>
            </a:pPr>
            <a:r>
              <a:rPr lang="en-US" b="1" dirty="0">
                <a:solidFill>
                  <a:srgbClr val="002060"/>
                </a:solidFill>
                <a:latin typeface="Catamaran Light"/>
              </a:rPr>
              <a:t>	                   As. </a:t>
            </a:r>
            <a:r>
              <a:rPr lang="en-US" b="1" dirty="0" err="1">
                <a:solidFill>
                  <a:srgbClr val="002060"/>
                </a:solidFill>
                <a:latin typeface="Catamaran Light"/>
              </a:rPr>
              <a:t>drd</a:t>
            </a:r>
            <a:r>
              <a:rPr lang="en-US" b="1" dirty="0">
                <a:solidFill>
                  <a:srgbClr val="002060"/>
                </a:solidFill>
                <a:latin typeface="Catamaran Light"/>
              </a:rPr>
              <a:t>. </a:t>
            </a:r>
            <a:r>
              <a:rPr lang="en-US" b="1" dirty="0" err="1">
                <a:solidFill>
                  <a:srgbClr val="002060"/>
                </a:solidFill>
                <a:latin typeface="Catamaran Light"/>
              </a:rPr>
              <a:t>ing</a:t>
            </a:r>
            <a:r>
              <a:rPr lang="en-US" b="1" dirty="0">
                <a:solidFill>
                  <a:srgbClr val="002060"/>
                </a:solidFill>
                <a:latin typeface="Catamaran Light"/>
              </a:rPr>
              <a:t>. Teodora-Cristina STOIAN</a:t>
            </a:r>
            <a:endParaRPr lang="ro-RO" b="1" dirty="0">
              <a:solidFill>
                <a:srgbClr val="002060"/>
              </a:solidFill>
              <a:latin typeface="Catamaran Light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6B119A7-BD28-D32F-A154-71A60833E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67" y="119063"/>
            <a:ext cx="1231506" cy="1231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Facultatea de Electronică, Telecomunicații și Tehnologia Informației -  Universitatea Politehnica din Bucuresti">
            <a:extLst>
              <a:ext uri="{FF2B5EF4-FFF2-40B4-BE49-F238E27FC236}">
                <a16:creationId xmlns:a16="http://schemas.microsoft.com/office/drawing/2014/main" id="{6A228354-934C-ED28-287C-D590C47A5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0389" y="3845698"/>
            <a:ext cx="1231506" cy="1231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>
            <a:spLocks noGrp="1"/>
          </p:cNvSpPr>
          <p:nvPr>
            <p:ph type="ctrTitle" idx="9"/>
          </p:nvPr>
        </p:nvSpPr>
        <p:spPr>
          <a:xfrm>
            <a:off x="5126570" y="-47640"/>
            <a:ext cx="29133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800" dirty="0">
                <a:solidFill>
                  <a:srgbClr val="002060"/>
                </a:solidFill>
              </a:rPr>
              <a:t>Cuprins</a:t>
            </a:r>
            <a:endParaRPr sz="2800" dirty="0">
              <a:solidFill>
                <a:srgbClr val="002060"/>
              </a:solidFill>
            </a:endParaRPr>
          </a:p>
        </p:txBody>
      </p:sp>
      <p:sp>
        <p:nvSpPr>
          <p:cNvPr id="142" name="Google Shape;142;p26"/>
          <p:cNvSpPr/>
          <p:nvPr/>
        </p:nvSpPr>
        <p:spPr>
          <a:xfrm rot="-5400000" flipH="1">
            <a:off x="-957850" y="957900"/>
            <a:ext cx="5140800" cy="3225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" name="Google Shape;144;p26"/>
          <p:cNvSpPr txBox="1">
            <a:spLocks noGrp="1"/>
          </p:cNvSpPr>
          <p:nvPr>
            <p:ph type="ctrTitle" idx="6"/>
          </p:nvPr>
        </p:nvSpPr>
        <p:spPr>
          <a:xfrm>
            <a:off x="6395195" y="2281500"/>
            <a:ext cx="2834287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400" dirty="0"/>
              <a:t>SETUP EXPERIMENTAL </a:t>
            </a:r>
            <a:r>
              <a:rPr lang="ro-RO" sz="1400" dirty="0"/>
              <a:t>Ș</a:t>
            </a:r>
            <a:r>
              <a:rPr lang="en-US" sz="1400" dirty="0"/>
              <a:t>I METODOLOGIA DE EVALUARE</a:t>
            </a:r>
          </a:p>
        </p:txBody>
      </p:sp>
      <p:sp>
        <p:nvSpPr>
          <p:cNvPr id="145" name="Google Shape;145;p26"/>
          <p:cNvSpPr txBox="1">
            <a:spLocks noGrp="1"/>
          </p:cNvSpPr>
          <p:nvPr>
            <p:ph type="title" idx="8"/>
          </p:nvPr>
        </p:nvSpPr>
        <p:spPr>
          <a:xfrm>
            <a:off x="2488021" y="3062974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lt1"/>
                </a:solidFill>
              </a:rPr>
              <a:t>05</a:t>
            </a:r>
            <a:endParaRPr sz="4000" dirty="0">
              <a:solidFill>
                <a:schemeClr val="lt1"/>
              </a:solidFill>
            </a:endParaRPr>
          </a:p>
        </p:txBody>
      </p:sp>
      <p:sp>
        <p:nvSpPr>
          <p:cNvPr id="146" name="Google Shape;146;p26"/>
          <p:cNvSpPr txBox="1">
            <a:spLocks noGrp="1"/>
          </p:cNvSpPr>
          <p:nvPr>
            <p:ph type="ctrTitle"/>
          </p:nvPr>
        </p:nvSpPr>
        <p:spPr>
          <a:xfrm>
            <a:off x="3223354" y="296688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400" dirty="0"/>
              <a:t>INTRODUCERE</a:t>
            </a:r>
            <a:endParaRPr sz="1400" dirty="0"/>
          </a:p>
        </p:txBody>
      </p:sp>
      <p:sp>
        <p:nvSpPr>
          <p:cNvPr id="147" name="Google Shape;147;p26"/>
          <p:cNvSpPr txBox="1">
            <a:spLocks noGrp="1"/>
          </p:cNvSpPr>
          <p:nvPr>
            <p:ph type="subTitle" idx="1"/>
          </p:nvPr>
        </p:nvSpPr>
        <p:spPr>
          <a:xfrm>
            <a:off x="3225051" y="719858"/>
            <a:ext cx="2251799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 err="1"/>
              <a:t>Contextul</a:t>
            </a:r>
            <a:r>
              <a:rPr lang="en-US" dirty="0"/>
              <a:t> general al </a:t>
            </a:r>
            <a:r>
              <a:rPr lang="en-US" dirty="0" err="1"/>
              <a:t>tehnologiei</a:t>
            </a:r>
            <a:r>
              <a:rPr lang="en-US" dirty="0"/>
              <a:t> 5G </a:t>
            </a:r>
            <a:r>
              <a:rPr lang="ro-RO" dirty="0"/>
              <a:t>ș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motiva</a:t>
            </a:r>
            <a:r>
              <a:rPr lang="ro-RO" dirty="0"/>
              <a:t>ț</a:t>
            </a:r>
            <a:r>
              <a:rPr lang="en-US" dirty="0" err="1"/>
              <a:t>ia</a:t>
            </a:r>
            <a:r>
              <a:rPr lang="en-US" dirty="0"/>
              <a:t> </a:t>
            </a:r>
            <a:r>
              <a:rPr lang="en-US" dirty="0" err="1"/>
              <a:t>utilizării</a:t>
            </a:r>
            <a:r>
              <a:rPr lang="en-US" dirty="0"/>
              <a:t> </a:t>
            </a:r>
            <a:r>
              <a:rPr lang="en-US" dirty="0" err="1"/>
              <a:t>arhitecturilor</a:t>
            </a:r>
            <a:r>
              <a:rPr lang="en-US" dirty="0"/>
              <a:t> Open RAN</a:t>
            </a:r>
            <a:endParaRPr lang="ro-RO" sz="1100" dirty="0"/>
          </a:p>
        </p:txBody>
      </p:sp>
      <p:sp>
        <p:nvSpPr>
          <p:cNvPr id="148" name="Google Shape;148;p26"/>
          <p:cNvSpPr txBox="1">
            <a:spLocks noGrp="1"/>
          </p:cNvSpPr>
          <p:nvPr>
            <p:ph type="title" idx="2"/>
          </p:nvPr>
        </p:nvSpPr>
        <p:spPr>
          <a:xfrm>
            <a:off x="2488021" y="334257"/>
            <a:ext cx="1739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lt1"/>
                </a:solidFill>
              </a:rPr>
              <a:t>01</a:t>
            </a:r>
            <a:endParaRPr sz="4000" dirty="0">
              <a:solidFill>
                <a:schemeClr val="lt1"/>
              </a:solidFill>
            </a:endParaRPr>
          </a:p>
        </p:txBody>
      </p:sp>
      <p:sp>
        <p:nvSpPr>
          <p:cNvPr id="149" name="Google Shape;149;p26"/>
          <p:cNvSpPr txBox="1">
            <a:spLocks noGrp="1"/>
          </p:cNvSpPr>
          <p:nvPr>
            <p:ph type="ctrTitle" idx="3"/>
          </p:nvPr>
        </p:nvSpPr>
        <p:spPr>
          <a:xfrm>
            <a:off x="6447801" y="912057"/>
            <a:ext cx="2652426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FUNDAMENTELE OPEN RAN</a:t>
            </a:r>
            <a:endParaRPr sz="1400" dirty="0"/>
          </a:p>
        </p:txBody>
      </p:sp>
      <p:sp>
        <p:nvSpPr>
          <p:cNvPr id="150" name="Google Shape;150;p26"/>
          <p:cNvSpPr txBox="1">
            <a:spLocks noGrp="1"/>
          </p:cNvSpPr>
          <p:nvPr>
            <p:ph type="subTitle" idx="4"/>
          </p:nvPr>
        </p:nvSpPr>
        <p:spPr>
          <a:xfrm>
            <a:off x="6471491" y="1353756"/>
            <a:ext cx="2295137" cy="10043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o-RO" dirty="0"/>
              <a:t>E</a:t>
            </a:r>
            <a:r>
              <a:rPr lang="en-US" dirty="0" err="1"/>
              <a:t>voluția</a:t>
            </a:r>
            <a:r>
              <a:rPr lang="en-US" dirty="0"/>
              <a:t> RAN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principiile</a:t>
            </a:r>
            <a:r>
              <a:rPr lang="en-US" dirty="0"/>
              <a:t> Open RAN</a:t>
            </a:r>
            <a:endParaRPr sz="1100" dirty="0"/>
          </a:p>
        </p:txBody>
      </p:sp>
      <p:sp>
        <p:nvSpPr>
          <p:cNvPr id="152" name="Google Shape;152;p26"/>
          <p:cNvSpPr txBox="1">
            <a:spLocks noGrp="1"/>
          </p:cNvSpPr>
          <p:nvPr>
            <p:ph type="ctrTitle" idx="13"/>
          </p:nvPr>
        </p:nvSpPr>
        <p:spPr>
          <a:xfrm>
            <a:off x="3180422" y="3067972"/>
            <a:ext cx="2337665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REZULTATE EXPERIMENTALE</a:t>
            </a:r>
            <a:endParaRPr sz="1400" dirty="0"/>
          </a:p>
        </p:txBody>
      </p:sp>
      <p:sp>
        <p:nvSpPr>
          <p:cNvPr id="153" name="Google Shape;153;p26"/>
          <p:cNvSpPr txBox="1">
            <a:spLocks noGrp="1"/>
          </p:cNvSpPr>
          <p:nvPr>
            <p:ph type="subTitle" idx="14"/>
          </p:nvPr>
        </p:nvSpPr>
        <p:spPr>
          <a:xfrm>
            <a:off x="6471491" y="2690412"/>
            <a:ext cx="2180025" cy="10509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 err="1"/>
              <a:t>Prezentarea</a:t>
            </a:r>
            <a:r>
              <a:rPr lang="en-US" dirty="0"/>
              <a:t> </a:t>
            </a:r>
            <a:r>
              <a:rPr lang="en-US" dirty="0" err="1"/>
              <a:t>echipamentelor</a:t>
            </a:r>
            <a:r>
              <a:rPr lang="en-US" dirty="0"/>
              <a:t> </a:t>
            </a:r>
            <a:r>
              <a:rPr lang="en-US" dirty="0" err="1"/>
              <a:t>utilizate</a:t>
            </a:r>
            <a:r>
              <a:rPr lang="en-US" dirty="0"/>
              <a:t>, a </a:t>
            </a:r>
            <a:r>
              <a:rPr lang="en-US" dirty="0" err="1"/>
              <a:t>scenariului</a:t>
            </a:r>
            <a:r>
              <a:rPr lang="en-US" dirty="0"/>
              <a:t> de </a:t>
            </a:r>
            <a:r>
              <a:rPr lang="en-US" dirty="0" err="1"/>
              <a:t>laborator</a:t>
            </a:r>
            <a:r>
              <a:rPr lang="en-US" dirty="0"/>
              <a:t> </a:t>
            </a:r>
            <a:r>
              <a:rPr lang="ro-RO" dirty="0"/>
              <a:t>și</a:t>
            </a:r>
            <a:r>
              <a:rPr lang="en-US" dirty="0"/>
              <a:t> a </a:t>
            </a:r>
            <a:r>
              <a:rPr lang="en-US" dirty="0" err="1"/>
              <a:t>procedurii</a:t>
            </a:r>
            <a:r>
              <a:rPr lang="en-US" dirty="0"/>
              <a:t> de </a:t>
            </a:r>
            <a:r>
              <a:rPr lang="en-US" dirty="0" err="1"/>
              <a:t>testare</a:t>
            </a:r>
            <a:endParaRPr sz="1100" dirty="0"/>
          </a:p>
        </p:txBody>
      </p:sp>
      <p:sp>
        <p:nvSpPr>
          <p:cNvPr id="154" name="Google Shape;154;p26"/>
          <p:cNvSpPr txBox="1">
            <a:spLocks noGrp="1"/>
          </p:cNvSpPr>
          <p:nvPr>
            <p:ph type="title" idx="15"/>
          </p:nvPr>
        </p:nvSpPr>
        <p:spPr>
          <a:xfrm>
            <a:off x="5690170" y="2246680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002060"/>
                </a:solidFill>
              </a:rPr>
              <a:t>04</a:t>
            </a:r>
            <a:endParaRPr sz="4000" dirty="0">
              <a:solidFill>
                <a:srgbClr val="002060"/>
              </a:solidFill>
            </a:endParaRPr>
          </a:p>
        </p:txBody>
      </p:sp>
      <p:sp>
        <p:nvSpPr>
          <p:cNvPr id="151" name="Google Shape;151;p26"/>
          <p:cNvSpPr txBox="1">
            <a:spLocks noGrp="1"/>
          </p:cNvSpPr>
          <p:nvPr>
            <p:ph type="title" idx="5"/>
          </p:nvPr>
        </p:nvSpPr>
        <p:spPr>
          <a:xfrm>
            <a:off x="5775620" y="888997"/>
            <a:ext cx="1615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002060"/>
                </a:solidFill>
              </a:rPr>
              <a:t>02</a:t>
            </a:r>
            <a:endParaRPr sz="4000" dirty="0">
              <a:solidFill>
                <a:srgbClr val="002060"/>
              </a:solidFill>
            </a:endParaRPr>
          </a:p>
        </p:txBody>
      </p:sp>
      <p:sp>
        <p:nvSpPr>
          <p:cNvPr id="4" name="Google Shape;145;p26">
            <a:extLst>
              <a:ext uri="{FF2B5EF4-FFF2-40B4-BE49-F238E27FC236}">
                <a16:creationId xmlns:a16="http://schemas.microsoft.com/office/drawing/2014/main" id="{705734C1-103C-8A1E-7052-6007AC8340EC}"/>
              </a:ext>
            </a:extLst>
          </p:cNvPr>
          <p:cNvSpPr txBox="1">
            <a:spLocks/>
          </p:cNvSpPr>
          <p:nvPr/>
        </p:nvSpPr>
        <p:spPr>
          <a:xfrm>
            <a:off x="2488021" y="1560798"/>
            <a:ext cx="15735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ivvic"/>
              <a:buNone/>
              <a:defRPr sz="4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" sz="4000" dirty="0">
                <a:solidFill>
                  <a:schemeClr val="lt1"/>
                </a:solidFill>
              </a:rPr>
              <a:t>03</a:t>
            </a:r>
          </a:p>
        </p:txBody>
      </p:sp>
      <p:sp>
        <p:nvSpPr>
          <p:cNvPr id="5" name="Google Shape;152;p26">
            <a:extLst>
              <a:ext uri="{FF2B5EF4-FFF2-40B4-BE49-F238E27FC236}">
                <a16:creationId xmlns:a16="http://schemas.microsoft.com/office/drawing/2014/main" id="{ACE812A8-E463-CA72-0C24-945F210ABDA5}"/>
              </a:ext>
            </a:extLst>
          </p:cNvPr>
          <p:cNvSpPr txBox="1">
            <a:spLocks/>
          </p:cNvSpPr>
          <p:nvPr/>
        </p:nvSpPr>
        <p:spPr>
          <a:xfrm>
            <a:off x="3181325" y="1560798"/>
            <a:ext cx="2737626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r>
              <a:rPr lang="en-US" sz="1400" dirty="0"/>
              <a:t>ARHITECTURA SISTEMULUI PROPUS</a:t>
            </a:r>
          </a:p>
        </p:txBody>
      </p:sp>
      <p:sp>
        <p:nvSpPr>
          <p:cNvPr id="6" name="Google Shape;154;p26">
            <a:extLst>
              <a:ext uri="{FF2B5EF4-FFF2-40B4-BE49-F238E27FC236}">
                <a16:creationId xmlns:a16="http://schemas.microsoft.com/office/drawing/2014/main" id="{F8831E2F-4685-1C07-6E4A-F45400579E63}"/>
              </a:ext>
            </a:extLst>
          </p:cNvPr>
          <p:cNvSpPr txBox="1">
            <a:spLocks/>
          </p:cNvSpPr>
          <p:nvPr/>
        </p:nvSpPr>
        <p:spPr>
          <a:xfrm>
            <a:off x="5666216" y="3640774"/>
            <a:ext cx="15735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ivvic"/>
              <a:buNone/>
              <a:defRPr sz="4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" sz="4000" dirty="0">
                <a:solidFill>
                  <a:srgbClr val="002060"/>
                </a:solidFill>
              </a:rPr>
              <a:t>06</a:t>
            </a:r>
          </a:p>
        </p:txBody>
      </p:sp>
      <p:sp>
        <p:nvSpPr>
          <p:cNvPr id="7" name="Google Shape;144;p26">
            <a:extLst>
              <a:ext uri="{FF2B5EF4-FFF2-40B4-BE49-F238E27FC236}">
                <a16:creationId xmlns:a16="http://schemas.microsoft.com/office/drawing/2014/main" id="{859AE982-0E7F-E21E-2B9A-068CBBBC685E}"/>
              </a:ext>
            </a:extLst>
          </p:cNvPr>
          <p:cNvSpPr txBox="1">
            <a:spLocks/>
          </p:cNvSpPr>
          <p:nvPr/>
        </p:nvSpPr>
        <p:spPr>
          <a:xfrm>
            <a:off x="6447801" y="3676703"/>
            <a:ext cx="247963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None/>
              <a:defRPr sz="12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r>
              <a:rPr lang="en-US" sz="1400" dirty="0"/>
              <a:t>CONCLUZII </a:t>
            </a:r>
            <a:r>
              <a:rPr lang="ro-RO" sz="1400" dirty="0"/>
              <a:t>Ș</a:t>
            </a:r>
            <a:r>
              <a:rPr lang="en-US" sz="1400" dirty="0"/>
              <a:t>I DIREC</a:t>
            </a:r>
            <a:r>
              <a:rPr lang="ro-RO" sz="1400" dirty="0"/>
              <a:t>Ț</a:t>
            </a:r>
            <a:r>
              <a:rPr lang="en-US" sz="1400" dirty="0"/>
              <a:t>II VIITOARE</a:t>
            </a:r>
          </a:p>
        </p:txBody>
      </p:sp>
      <p:sp>
        <p:nvSpPr>
          <p:cNvPr id="8" name="Google Shape;143;p26">
            <a:extLst>
              <a:ext uri="{FF2B5EF4-FFF2-40B4-BE49-F238E27FC236}">
                <a16:creationId xmlns:a16="http://schemas.microsoft.com/office/drawing/2014/main" id="{DD6EC3B6-9999-FE23-8021-28ADA1010832}"/>
              </a:ext>
            </a:extLst>
          </p:cNvPr>
          <p:cNvSpPr txBox="1">
            <a:spLocks/>
          </p:cNvSpPr>
          <p:nvPr/>
        </p:nvSpPr>
        <p:spPr>
          <a:xfrm>
            <a:off x="7021484" y="4770501"/>
            <a:ext cx="2122467" cy="88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pPr marL="0" indent="0"/>
            <a:endParaRPr lang="it-IT" sz="1100" dirty="0"/>
          </a:p>
        </p:txBody>
      </p:sp>
      <p:sp>
        <p:nvSpPr>
          <p:cNvPr id="2" name="Google Shape;143;p26">
            <a:extLst>
              <a:ext uri="{FF2B5EF4-FFF2-40B4-BE49-F238E27FC236}">
                <a16:creationId xmlns:a16="http://schemas.microsoft.com/office/drawing/2014/main" id="{891B37FF-D047-96E0-7A3B-B9D5ADF3F915}"/>
              </a:ext>
            </a:extLst>
          </p:cNvPr>
          <p:cNvSpPr txBox="1">
            <a:spLocks/>
          </p:cNvSpPr>
          <p:nvPr/>
        </p:nvSpPr>
        <p:spPr>
          <a:xfrm>
            <a:off x="3189934" y="1980975"/>
            <a:ext cx="2122467" cy="88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pPr marL="0" indent="0"/>
            <a:r>
              <a:rPr lang="en-US" dirty="0" err="1"/>
              <a:t>Descrierea</a:t>
            </a:r>
            <a:r>
              <a:rPr lang="en-US" dirty="0"/>
              <a:t> </a:t>
            </a:r>
            <a:r>
              <a:rPr lang="en-US" dirty="0" err="1"/>
              <a:t>arhitecturii</a:t>
            </a:r>
            <a:r>
              <a:rPr lang="en-US" dirty="0"/>
              <a:t> 5G Standalone Open RAN </a:t>
            </a:r>
            <a:r>
              <a:rPr lang="ro-RO" dirty="0"/>
              <a:t>și</a:t>
            </a:r>
            <a:r>
              <a:rPr lang="en-US" dirty="0"/>
              <a:t> a </a:t>
            </a:r>
            <a:r>
              <a:rPr lang="en-US" dirty="0" err="1"/>
              <a:t>legăturilor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componentele</a:t>
            </a:r>
            <a:r>
              <a:rPr lang="en-US" dirty="0"/>
              <a:t> re</a:t>
            </a:r>
            <a:r>
              <a:rPr lang="ro-RO" dirty="0"/>
              <a:t>ț</a:t>
            </a:r>
            <a:r>
              <a:rPr lang="en-US" dirty="0" err="1"/>
              <a:t>elei</a:t>
            </a:r>
            <a:endParaRPr lang="it-IT" sz="1100" dirty="0"/>
          </a:p>
        </p:txBody>
      </p:sp>
      <p:sp>
        <p:nvSpPr>
          <p:cNvPr id="10" name="Google Shape;153;p26">
            <a:extLst>
              <a:ext uri="{FF2B5EF4-FFF2-40B4-BE49-F238E27FC236}">
                <a16:creationId xmlns:a16="http://schemas.microsoft.com/office/drawing/2014/main" id="{3376BF5E-5C39-447E-C195-A6E27821E543}"/>
              </a:ext>
            </a:extLst>
          </p:cNvPr>
          <p:cNvSpPr txBox="1">
            <a:spLocks/>
          </p:cNvSpPr>
          <p:nvPr/>
        </p:nvSpPr>
        <p:spPr>
          <a:xfrm>
            <a:off x="3189934" y="3524205"/>
            <a:ext cx="2180025" cy="105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pPr marL="0" indent="0"/>
            <a:r>
              <a:rPr lang="en-US" dirty="0"/>
              <a:t>Analiza </a:t>
            </a:r>
            <a:r>
              <a:rPr lang="en-US" dirty="0" err="1"/>
              <a:t>performanțelor</a:t>
            </a:r>
            <a:r>
              <a:rPr lang="en-US" dirty="0"/>
              <a:t> </a:t>
            </a:r>
            <a:r>
              <a:rPr lang="en-US" dirty="0" err="1"/>
              <a:t>ob</a:t>
            </a:r>
            <a:r>
              <a:rPr lang="ro-RO" dirty="0"/>
              <a:t>ț</a:t>
            </a:r>
            <a:r>
              <a:rPr lang="en-US" dirty="0" err="1"/>
              <a:t>inute</a:t>
            </a:r>
            <a:r>
              <a:rPr lang="en-US" dirty="0"/>
              <a:t> pe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măsurătorilor</a:t>
            </a:r>
            <a:r>
              <a:rPr lang="en-US" dirty="0"/>
              <a:t> de downlink, uplink, </a:t>
            </a:r>
            <a:r>
              <a:rPr lang="en-US" dirty="0" err="1"/>
              <a:t>latență</a:t>
            </a:r>
            <a:r>
              <a:rPr lang="en-US" dirty="0"/>
              <a:t> </a:t>
            </a:r>
            <a:r>
              <a:rPr lang="ro-RO" dirty="0"/>
              <a:t>ș</a:t>
            </a:r>
            <a:r>
              <a:rPr lang="en-US" dirty="0" err="1"/>
              <a:t>i</a:t>
            </a:r>
            <a:r>
              <a:rPr lang="en-US" dirty="0"/>
              <a:t> jitter.</a:t>
            </a:r>
            <a:endParaRPr lang="en-US" sz="1100" dirty="0"/>
          </a:p>
        </p:txBody>
      </p:sp>
      <p:sp>
        <p:nvSpPr>
          <p:cNvPr id="11" name="Google Shape;153;p26">
            <a:extLst>
              <a:ext uri="{FF2B5EF4-FFF2-40B4-BE49-F238E27FC236}">
                <a16:creationId xmlns:a16="http://schemas.microsoft.com/office/drawing/2014/main" id="{42D36EA0-85D4-A0F2-DDAC-201C5FC70707}"/>
              </a:ext>
            </a:extLst>
          </p:cNvPr>
          <p:cNvSpPr txBox="1">
            <a:spLocks/>
          </p:cNvSpPr>
          <p:nvPr/>
        </p:nvSpPr>
        <p:spPr>
          <a:xfrm>
            <a:off x="6447801" y="4143543"/>
            <a:ext cx="2180025" cy="105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Light"/>
              <a:buNone/>
              <a:defRPr sz="10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pPr marL="0" indent="0"/>
            <a:r>
              <a:rPr lang="en-US" dirty="0" err="1"/>
              <a:t>Sinteza</a:t>
            </a:r>
            <a:r>
              <a:rPr lang="en-US" dirty="0"/>
              <a:t> </a:t>
            </a:r>
            <a:r>
              <a:rPr lang="en-US" dirty="0" err="1"/>
              <a:t>principalelor</a:t>
            </a:r>
            <a:r>
              <a:rPr lang="en-US" dirty="0"/>
              <a:t> </a:t>
            </a:r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ro-RO" dirty="0"/>
              <a:t>ș</a:t>
            </a:r>
            <a:r>
              <a:rPr lang="en-US" dirty="0" err="1"/>
              <a:t>i</a:t>
            </a:r>
            <a:r>
              <a:rPr lang="en-US" dirty="0"/>
              <a:t> perspective de </a:t>
            </a:r>
            <a:r>
              <a:rPr lang="en-US" dirty="0" err="1"/>
              <a:t>viitor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Open RAN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8EDE389-0963-9695-939B-0318D2ACE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Google Shape;248;p35"/>
          <p:cNvSpPr txBox="1">
            <a:spLocks/>
          </p:cNvSpPr>
          <p:nvPr/>
        </p:nvSpPr>
        <p:spPr>
          <a:xfrm>
            <a:off x="0" y="4352836"/>
            <a:ext cx="17388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ivvic"/>
              <a:buNone/>
              <a:defRPr sz="6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">
                <a:solidFill>
                  <a:schemeClr val="lt1"/>
                </a:solidFill>
              </a:rPr>
              <a:t>01</a:t>
            </a:r>
            <a:endParaRPr lang="en" dirty="0">
              <a:solidFill>
                <a:schemeClr val="lt1"/>
              </a:solidFill>
            </a:endParaRPr>
          </a:p>
        </p:txBody>
      </p:sp>
      <p:sp>
        <p:nvSpPr>
          <p:cNvPr id="23" name="Google Shape;247;p35"/>
          <p:cNvSpPr txBox="1">
            <a:spLocks/>
          </p:cNvSpPr>
          <p:nvPr/>
        </p:nvSpPr>
        <p:spPr>
          <a:xfrm>
            <a:off x="-1016513" y="787875"/>
            <a:ext cx="6852154" cy="1388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pPr algn="ctr"/>
            <a:endParaRPr lang="it-IT" dirty="0">
              <a:solidFill>
                <a:schemeClr val="lt1"/>
              </a:solidFill>
            </a:endParaRPr>
          </a:p>
        </p:txBody>
      </p:sp>
      <p:sp>
        <p:nvSpPr>
          <p:cNvPr id="2" name="Google Shape;247;p35">
            <a:extLst>
              <a:ext uri="{FF2B5EF4-FFF2-40B4-BE49-F238E27FC236}">
                <a16:creationId xmlns:a16="http://schemas.microsoft.com/office/drawing/2014/main" id="{C535014B-AB44-093D-6355-8F3B4B2DEA40}"/>
              </a:ext>
            </a:extLst>
          </p:cNvPr>
          <p:cNvSpPr txBox="1">
            <a:spLocks/>
          </p:cNvSpPr>
          <p:nvPr/>
        </p:nvSpPr>
        <p:spPr>
          <a:xfrm>
            <a:off x="377951" y="540661"/>
            <a:ext cx="5802131" cy="1058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pPr algn="ctr"/>
            <a:r>
              <a:rPr lang="en-US" sz="3200" dirty="0">
                <a:solidFill>
                  <a:schemeClr val="lt1"/>
                </a:solidFill>
              </a:rPr>
              <a:t>INTRODUCERE</a:t>
            </a:r>
            <a:endParaRPr lang="it-IT" sz="3200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>
            <a:spLocks noGrp="1"/>
          </p:cNvSpPr>
          <p:nvPr>
            <p:ph type="ctrTitle"/>
          </p:nvPr>
        </p:nvSpPr>
        <p:spPr>
          <a:xfrm>
            <a:off x="1599432" y="122012"/>
            <a:ext cx="5945135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Introducere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5G </a:t>
            </a:r>
            <a:r>
              <a:rPr lang="en-US" dirty="0" err="1"/>
              <a:t>și</a:t>
            </a:r>
            <a:r>
              <a:rPr lang="en-US" dirty="0"/>
              <a:t> Open RAN</a:t>
            </a:r>
            <a:br>
              <a:rPr lang="en-US" b="0" dirty="0"/>
            </a:br>
            <a:endParaRPr dirty="0"/>
          </a:p>
        </p:txBody>
      </p:sp>
      <p:sp>
        <p:nvSpPr>
          <p:cNvPr id="134" name="Google Shape;134;p25"/>
          <p:cNvSpPr/>
          <p:nvPr/>
        </p:nvSpPr>
        <p:spPr>
          <a:xfrm rot="-5400000" flipH="1">
            <a:off x="-8561" y="8612"/>
            <a:ext cx="731523" cy="714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5" name="Google Shape;135;p25"/>
          <p:cNvSpPr/>
          <p:nvPr/>
        </p:nvSpPr>
        <p:spPr>
          <a:xfrm rot="-5400000" flipH="1">
            <a:off x="2731774" y="-1285898"/>
            <a:ext cx="3680453" cy="771529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181;p28">
            <a:extLst>
              <a:ext uri="{FF2B5EF4-FFF2-40B4-BE49-F238E27FC236}">
                <a16:creationId xmlns:a16="http://schemas.microsoft.com/office/drawing/2014/main" id="{964027CD-F981-AEE5-5682-83C830654483}"/>
              </a:ext>
            </a:extLst>
          </p:cNvPr>
          <p:cNvSpPr txBox="1">
            <a:spLocks/>
          </p:cNvSpPr>
          <p:nvPr/>
        </p:nvSpPr>
        <p:spPr>
          <a:xfrm>
            <a:off x="863231" y="609512"/>
            <a:ext cx="7252648" cy="32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pPr marL="342900" indent="-34290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Dezvoltarea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rețelelor</a:t>
            </a:r>
            <a:r>
              <a:rPr lang="en-US" dirty="0">
                <a:solidFill>
                  <a:schemeClr val="bg1"/>
                </a:solidFill>
              </a:rPr>
              <a:t> 5G </a:t>
            </a:r>
            <a:r>
              <a:rPr lang="en-US" dirty="0" err="1">
                <a:solidFill>
                  <a:schemeClr val="bg1"/>
                </a:solidFill>
              </a:rPr>
              <a:t>este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determinată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cerințe</a:t>
            </a:r>
            <a:r>
              <a:rPr lang="en-US" dirty="0">
                <a:solidFill>
                  <a:schemeClr val="bg1"/>
                </a:solidFill>
              </a:rPr>
              <a:t> tot </a:t>
            </a:r>
            <a:r>
              <a:rPr lang="en-US" dirty="0" err="1">
                <a:solidFill>
                  <a:schemeClr val="bg1"/>
                </a:solidFill>
              </a:rPr>
              <a:t>mai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ridicate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privind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debitul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latența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și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conectivitatea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sz="1600" dirty="0">
              <a:solidFill>
                <a:schemeClr val="bg1"/>
              </a:solidFill>
              <a:latin typeface="Catamaran Light"/>
            </a:endParaRPr>
          </a:p>
          <a:p>
            <a:pPr marL="342900" indent="-34290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În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arhitecturile</a:t>
            </a:r>
            <a:r>
              <a:rPr lang="en-US" sz="1600" dirty="0">
                <a:solidFill>
                  <a:schemeClr val="bg1"/>
                </a:solidFill>
              </a:rPr>
              <a:t> RAN </a:t>
            </a:r>
            <a:r>
              <a:rPr lang="en-US" sz="1600" dirty="0" err="1">
                <a:solidFill>
                  <a:schemeClr val="bg1"/>
                </a:solidFill>
              </a:rPr>
              <a:t>tradiționale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integrarea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strânsă</a:t>
            </a:r>
            <a:r>
              <a:rPr lang="en-US" sz="1600" dirty="0">
                <a:solidFill>
                  <a:schemeClr val="bg1"/>
                </a:solidFill>
              </a:rPr>
              <a:t> hardware-software </a:t>
            </a:r>
            <a:r>
              <a:rPr lang="en-US" sz="1600" dirty="0" err="1">
                <a:solidFill>
                  <a:schemeClr val="bg1"/>
                </a:solidFill>
              </a:rPr>
              <a:t>limitează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flexibilitatea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și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crește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dependența</a:t>
            </a:r>
            <a:r>
              <a:rPr lang="en-US" sz="1600" dirty="0">
                <a:solidFill>
                  <a:schemeClr val="bg1"/>
                </a:solidFill>
              </a:rPr>
              <a:t> de </a:t>
            </a:r>
            <a:r>
              <a:rPr lang="en-US" sz="1600" dirty="0" err="1">
                <a:solidFill>
                  <a:schemeClr val="bg1"/>
                </a:solidFill>
              </a:rPr>
              <a:t>furnizor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Catamaran Light"/>
            </a:endParaRPr>
          </a:p>
          <a:p>
            <a:pPr marL="342900" indent="-34290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Open RAN </a:t>
            </a:r>
            <a:r>
              <a:rPr lang="en-US" dirty="0" err="1">
                <a:solidFill>
                  <a:schemeClr val="bg1"/>
                </a:solidFill>
              </a:rPr>
              <a:t>poate</a:t>
            </a:r>
            <a:r>
              <a:rPr lang="en-US" dirty="0">
                <a:solidFill>
                  <a:schemeClr val="bg1"/>
                </a:solidFill>
              </a:rPr>
              <a:t> fi o </a:t>
            </a:r>
            <a:r>
              <a:rPr lang="en-US" dirty="0" err="1">
                <a:solidFill>
                  <a:schemeClr val="bg1"/>
                </a:solidFill>
              </a:rPr>
              <a:t>alternativă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deschisă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și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viabilă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într</a:t>
            </a:r>
            <a:r>
              <a:rPr lang="en-US" dirty="0">
                <a:solidFill>
                  <a:schemeClr val="bg1"/>
                </a:solidFill>
              </a:rPr>
              <a:t>-o </a:t>
            </a:r>
            <a:r>
              <a:rPr lang="en-US" dirty="0" err="1">
                <a:solidFill>
                  <a:schemeClr val="bg1"/>
                </a:solidFill>
              </a:rPr>
              <a:t>rețea</a:t>
            </a:r>
            <a:r>
              <a:rPr lang="en-US" dirty="0">
                <a:solidFill>
                  <a:schemeClr val="bg1"/>
                </a:solidFill>
              </a:rPr>
              <a:t> 5G Standalone </a:t>
            </a:r>
            <a:r>
              <a:rPr lang="en-US" dirty="0" err="1">
                <a:solidFill>
                  <a:schemeClr val="bg1"/>
                </a:solidFill>
              </a:rPr>
              <a:t>reală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Catamaran Light"/>
            </a:endParaRPr>
          </a:p>
        </p:txBody>
      </p:sp>
      <p:sp>
        <p:nvSpPr>
          <p:cNvPr id="5" name="Google Shape;134;p25">
            <a:extLst>
              <a:ext uri="{FF2B5EF4-FFF2-40B4-BE49-F238E27FC236}">
                <a16:creationId xmlns:a16="http://schemas.microsoft.com/office/drawing/2014/main" id="{726292FC-97D6-CC3D-C308-6B3795A7E99A}"/>
              </a:ext>
            </a:extLst>
          </p:cNvPr>
          <p:cNvSpPr/>
          <p:nvPr/>
        </p:nvSpPr>
        <p:spPr>
          <a:xfrm rot="16200000" flipH="1">
            <a:off x="8421038" y="4420589"/>
            <a:ext cx="731523" cy="714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C08981C-D35A-5AD2-572E-C93769DC7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" name="Google Shape;248;p35"/>
          <p:cNvSpPr txBox="1">
            <a:spLocks/>
          </p:cNvSpPr>
          <p:nvPr/>
        </p:nvSpPr>
        <p:spPr>
          <a:xfrm>
            <a:off x="0" y="4342031"/>
            <a:ext cx="1738800" cy="58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ivvic"/>
              <a:buNone/>
              <a:defRPr sz="6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">
                <a:solidFill>
                  <a:schemeClr val="lt1"/>
                </a:solidFill>
              </a:rPr>
              <a:t>02</a:t>
            </a:r>
            <a:endParaRPr lang="en" dirty="0">
              <a:solidFill>
                <a:schemeClr val="lt1"/>
              </a:solidFill>
            </a:endParaRPr>
          </a:p>
        </p:txBody>
      </p:sp>
      <p:sp>
        <p:nvSpPr>
          <p:cNvPr id="14" name="Google Shape;247;p35"/>
          <p:cNvSpPr txBox="1">
            <a:spLocks/>
          </p:cNvSpPr>
          <p:nvPr/>
        </p:nvSpPr>
        <p:spPr>
          <a:xfrm>
            <a:off x="145604" y="877939"/>
            <a:ext cx="5802131" cy="1058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pPr algn="ctr"/>
            <a:r>
              <a:rPr lang="en-US" sz="3200" dirty="0">
                <a:solidFill>
                  <a:schemeClr val="bg1"/>
                </a:solidFill>
              </a:rPr>
              <a:t>FUNDAMENTELE OPEN RAN</a:t>
            </a:r>
          </a:p>
          <a:p>
            <a:pPr lvl="0"/>
            <a:endParaRPr lang="ro-RO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779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>
          <a:extLst>
            <a:ext uri="{FF2B5EF4-FFF2-40B4-BE49-F238E27FC236}">
              <a16:creationId xmlns:a16="http://schemas.microsoft.com/office/drawing/2014/main" id="{D0A9752C-2299-36ED-5848-C408CC389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EE44418-777D-9193-A421-FC136472C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102"/>
            <a:ext cx="9144000" cy="5213602"/>
          </a:xfrm>
          <a:prstGeom prst="rect">
            <a:avLst/>
          </a:prstGeom>
        </p:spPr>
      </p:pic>
      <p:sp>
        <p:nvSpPr>
          <p:cNvPr id="10" name="Google Shape;206;p30">
            <a:extLst>
              <a:ext uri="{FF2B5EF4-FFF2-40B4-BE49-F238E27FC236}">
                <a16:creationId xmlns:a16="http://schemas.microsoft.com/office/drawing/2014/main" id="{66850DAF-B867-8636-8EEE-3BEAFF7D80E5}"/>
              </a:ext>
            </a:extLst>
          </p:cNvPr>
          <p:cNvSpPr txBox="1">
            <a:spLocks/>
          </p:cNvSpPr>
          <p:nvPr/>
        </p:nvSpPr>
        <p:spPr>
          <a:xfrm>
            <a:off x="3742123" y="1328023"/>
            <a:ext cx="4536345" cy="2870490"/>
          </a:xfrm>
          <a:prstGeom prst="rect">
            <a:avLst/>
          </a:prstGeom>
          <a:noFill/>
          <a:ln w="3175">
            <a:solidFill>
              <a:srgbClr val="002060"/>
            </a:solidFill>
            <a:prstDash val="lgDashDotDot"/>
            <a:extLst>
              <a:ext uri="{C807C97D-BFC1-408E-A445-0C87EB9F89A2}">
                <ask:lineSketchStyleProps xmlns:ask="http://schemas.microsoft.com/office/drawing/2018/sketchyshapes" sd="715884565">
                  <a:custGeom>
                    <a:avLst/>
                    <a:gdLst>
                      <a:gd name="connsiteX0" fmla="*/ 0 w 4220472"/>
                      <a:gd name="connsiteY0" fmla="*/ 0 h 1500793"/>
                      <a:gd name="connsiteX1" fmla="*/ 443150 w 4220472"/>
                      <a:gd name="connsiteY1" fmla="*/ 0 h 1500793"/>
                      <a:gd name="connsiteX2" fmla="*/ 1055118 w 4220472"/>
                      <a:gd name="connsiteY2" fmla="*/ 0 h 1500793"/>
                      <a:gd name="connsiteX3" fmla="*/ 1540472 w 4220472"/>
                      <a:gd name="connsiteY3" fmla="*/ 0 h 1500793"/>
                      <a:gd name="connsiteX4" fmla="*/ 1983622 w 4220472"/>
                      <a:gd name="connsiteY4" fmla="*/ 0 h 1500793"/>
                      <a:gd name="connsiteX5" fmla="*/ 2511181 w 4220472"/>
                      <a:gd name="connsiteY5" fmla="*/ 0 h 1500793"/>
                      <a:gd name="connsiteX6" fmla="*/ 2996535 w 4220472"/>
                      <a:gd name="connsiteY6" fmla="*/ 0 h 1500793"/>
                      <a:gd name="connsiteX7" fmla="*/ 3397480 w 4220472"/>
                      <a:gd name="connsiteY7" fmla="*/ 0 h 1500793"/>
                      <a:gd name="connsiteX8" fmla="*/ 4220472 w 4220472"/>
                      <a:gd name="connsiteY8" fmla="*/ 0 h 1500793"/>
                      <a:gd name="connsiteX9" fmla="*/ 4220472 w 4220472"/>
                      <a:gd name="connsiteY9" fmla="*/ 530280 h 1500793"/>
                      <a:gd name="connsiteX10" fmla="*/ 4220472 w 4220472"/>
                      <a:gd name="connsiteY10" fmla="*/ 1060560 h 1500793"/>
                      <a:gd name="connsiteX11" fmla="*/ 4220472 w 4220472"/>
                      <a:gd name="connsiteY11" fmla="*/ 1500793 h 1500793"/>
                      <a:gd name="connsiteX12" fmla="*/ 3692913 w 4220472"/>
                      <a:gd name="connsiteY12" fmla="*/ 1500793 h 1500793"/>
                      <a:gd name="connsiteX13" fmla="*/ 3123149 w 4220472"/>
                      <a:gd name="connsiteY13" fmla="*/ 1500793 h 1500793"/>
                      <a:gd name="connsiteX14" fmla="*/ 2553386 w 4220472"/>
                      <a:gd name="connsiteY14" fmla="*/ 1500793 h 1500793"/>
                      <a:gd name="connsiteX15" fmla="*/ 1983622 w 4220472"/>
                      <a:gd name="connsiteY15" fmla="*/ 1500793 h 1500793"/>
                      <a:gd name="connsiteX16" fmla="*/ 1540472 w 4220472"/>
                      <a:gd name="connsiteY16" fmla="*/ 1500793 h 1500793"/>
                      <a:gd name="connsiteX17" fmla="*/ 1139527 w 4220472"/>
                      <a:gd name="connsiteY17" fmla="*/ 1500793 h 1500793"/>
                      <a:gd name="connsiteX18" fmla="*/ 654173 w 4220472"/>
                      <a:gd name="connsiteY18" fmla="*/ 1500793 h 1500793"/>
                      <a:gd name="connsiteX19" fmla="*/ 0 w 4220472"/>
                      <a:gd name="connsiteY19" fmla="*/ 1500793 h 1500793"/>
                      <a:gd name="connsiteX20" fmla="*/ 0 w 4220472"/>
                      <a:gd name="connsiteY20" fmla="*/ 1030545 h 1500793"/>
                      <a:gd name="connsiteX21" fmla="*/ 0 w 4220472"/>
                      <a:gd name="connsiteY21" fmla="*/ 500264 h 1500793"/>
                      <a:gd name="connsiteX22" fmla="*/ 0 w 4220472"/>
                      <a:gd name="connsiteY22" fmla="*/ 0 h 15007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4220472" h="1500793" extrusionOk="0">
                        <a:moveTo>
                          <a:pt x="0" y="0"/>
                        </a:moveTo>
                        <a:cubicBezTo>
                          <a:pt x="194579" y="-31356"/>
                          <a:pt x="314856" y="40759"/>
                          <a:pt x="443150" y="0"/>
                        </a:cubicBezTo>
                        <a:cubicBezTo>
                          <a:pt x="571444" y="-40759"/>
                          <a:pt x="852139" y="30657"/>
                          <a:pt x="1055118" y="0"/>
                        </a:cubicBezTo>
                        <a:cubicBezTo>
                          <a:pt x="1258097" y="-30657"/>
                          <a:pt x="1424362" y="35707"/>
                          <a:pt x="1540472" y="0"/>
                        </a:cubicBezTo>
                        <a:cubicBezTo>
                          <a:pt x="1656582" y="-35707"/>
                          <a:pt x="1806036" y="400"/>
                          <a:pt x="1983622" y="0"/>
                        </a:cubicBezTo>
                        <a:cubicBezTo>
                          <a:pt x="2161208" y="-400"/>
                          <a:pt x="2277704" y="31165"/>
                          <a:pt x="2511181" y="0"/>
                        </a:cubicBezTo>
                        <a:cubicBezTo>
                          <a:pt x="2744658" y="-31165"/>
                          <a:pt x="2777195" y="363"/>
                          <a:pt x="2996535" y="0"/>
                        </a:cubicBezTo>
                        <a:cubicBezTo>
                          <a:pt x="3215875" y="-363"/>
                          <a:pt x="3239531" y="17667"/>
                          <a:pt x="3397480" y="0"/>
                        </a:cubicBezTo>
                        <a:cubicBezTo>
                          <a:pt x="3555429" y="-17667"/>
                          <a:pt x="3926000" y="23023"/>
                          <a:pt x="4220472" y="0"/>
                        </a:cubicBezTo>
                        <a:cubicBezTo>
                          <a:pt x="4279787" y="161336"/>
                          <a:pt x="4187228" y="301861"/>
                          <a:pt x="4220472" y="530280"/>
                        </a:cubicBezTo>
                        <a:cubicBezTo>
                          <a:pt x="4253716" y="758699"/>
                          <a:pt x="4189974" y="848257"/>
                          <a:pt x="4220472" y="1060560"/>
                        </a:cubicBezTo>
                        <a:cubicBezTo>
                          <a:pt x="4250970" y="1272863"/>
                          <a:pt x="4191091" y="1351932"/>
                          <a:pt x="4220472" y="1500793"/>
                        </a:cubicBezTo>
                        <a:cubicBezTo>
                          <a:pt x="4112620" y="1549185"/>
                          <a:pt x="3816879" y="1481974"/>
                          <a:pt x="3692913" y="1500793"/>
                        </a:cubicBezTo>
                        <a:cubicBezTo>
                          <a:pt x="3568947" y="1519612"/>
                          <a:pt x="3346017" y="1486020"/>
                          <a:pt x="3123149" y="1500793"/>
                        </a:cubicBezTo>
                        <a:cubicBezTo>
                          <a:pt x="2900281" y="1515566"/>
                          <a:pt x="2678692" y="1490024"/>
                          <a:pt x="2553386" y="1500793"/>
                        </a:cubicBezTo>
                        <a:cubicBezTo>
                          <a:pt x="2428080" y="1511562"/>
                          <a:pt x="2102509" y="1494369"/>
                          <a:pt x="1983622" y="1500793"/>
                        </a:cubicBezTo>
                        <a:cubicBezTo>
                          <a:pt x="1864735" y="1507217"/>
                          <a:pt x="1673068" y="1498090"/>
                          <a:pt x="1540472" y="1500793"/>
                        </a:cubicBezTo>
                        <a:cubicBezTo>
                          <a:pt x="1407876" y="1503496"/>
                          <a:pt x="1284379" y="1469330"/>
                          <a:pt x="1139527" y="1500793"/>
                        </a:cubicBezTo>
                        <a:cubicBezTo>
                          <a:pt x="994675" y="1532256"/>
                          <a:pt x="786568" y="1446126"/>
                          <a:pt x="654173" y="1500793"/>
                        </a:cubicBezTo>
                        <a:cubicBezTo>
                          <a:pt x="521778" y="1555460"/>
                          <a:pt x="142141" y="1436565"/>
                          <a:pt x="0" y="1500793"/>
                        </a:cubicBezTo>
                        <a:cubicBezTo>
                          <a:pt x="-25961" y="1268812"/>
                          <a:pt x="38573" y="1179965"/>
                          <a:pt x="0" y="1030545"/>
                        </a:cubicBezTo>
                        <a:cubicBezTo>
                          <a:pt x="-38573" y="881125"/>
                          <a:pt x="7296" y="653645"/>
                          <a:pt x="0" y="500264"/>
                        </a:cubicBezTo>
                        <a:cubicBezTo>
                          <a:pt x="-7296" y="346883"/>
                          <a:pt x="46176" y="2289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marR="0" lvl="1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marR="0" lvl="2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marR="0" lvl="3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marR="0" lvl="4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marR="0" lvl="5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marR="0" lvl="6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marR="0" lvl="7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marR="0" lvl="8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În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arhitecturile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tradiționale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,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rețeaua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centrală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și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rețeaua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de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acces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sunt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implementate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ca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soluții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integrate hardware–software.</a:t>
            </a: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Open RAN se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bazează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pe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dezagregare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: hardware-ul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și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software-ul sunt separate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și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pot fi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tratate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independent</a:t>
            </a:r>
            <a:endParaRPr lang="ro-RO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0" indent="0" algn="just">
              <a:buClr>
                <a:schemeClr val="bg1"/>
              </a:buClr>
              <a:buSzPct val="100000"/>
            </a:pPr>
            <a:endParaRPr lang="ro-RO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ro-RO" sz="1600" b="1" dirty="0">
                <a:solidFill>
                  <a:schemeClr val="bg1"/>
                </a:solidFill>
                <a:latin typeface="Livvic" pitchFamily="2" charset="0"/>
              </a:rPr>
              <a:t>Virtualizarea și rularea funcțiilor RAN pe infrastructuri comerciale</a:t>
            </a:r>
            <a:endParaRPr lang="en-US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ro-RO" sz="1600" b="1" dirty="0">
              <a:solidFill>
                <a:schemeClr val="bg1"/>
              </a:solidFill>
              <a:latin typeface="Livvic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5DBEC3-AC53-C60A-5E90-92D99A207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43" y="780612"/>
            <a:ext cx="3144273" cy="3965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0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7D9B2-144E-BDF4-369B-2C9E1BA51C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7EC622-2C1D-79BE-0033-5620C295F9B4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0023171-8E13-EAB4-BFA5-85A226F19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2258" y="5230"/>
            <a:ext cx="9299827" cy="5143500"/>
          </a:xfrm>
          <a:prstGeom prst="rect">
            <a:avLst/>
          </a:prstGeom>
        </p:spPr>
      </p:pic>
      <p:sp>
        <p:nvSpPr>
          <p:cNvPr id="25" name="Google Shape;636;p29">
            <a:extLst>
              <a:ext uri="{FF2B5EF4-FFF2-40B4-BE49-F238E27FC236}">
                <a16:creationId xmlns:a16="http://schemas.microsoft.com/office/drawing/2014/main" id="{E5164368-5552-AA90-7310-5765F0B36705}"/>
              </a:ext>
            </a:extLst>
          </p:cNvPr>
          <p:cNvSpPr/>
          <p:nvPr/>
        </p:nvSpPr>
        <p:spPr>
          <a:xfrm>
            <a:off x="-487101" y="341504"/>
            <a:ext cx="9925446" cy="3655062"/>
          </a:xfrm>
          <a:custGeom>
            <a:avLst/>
            <a:gdLst/>
            <a:ahLst/>
            <a:cxnLst/>
            <a:rect l="l" t="t" r="r" b="b"/>
            <a:pathLst>
              <a:path w="281533" h="103675" fill="none" extrusionOk="0">
                <a:moveTo>
                  <a:pt x="281533" y="284"/>
                </a:moveTo>
                <a:lnTo>
                  <a:pt x="202438" y="0"/>
                </a:lnTo>
                <a:lnTo>
                  <a:pt x="75469" y="103675"/>
                </a:lnTo>
                <a:lnTo>
                  <a:pt x="1" y="103675"/>
                </a:lnTo>
              </a:path>
            </a:pathLst>
          </a:custGeom>
          <a:noFill/>
          <a:ln w="10800" cap="flat" cmpd="sng">
            <a:solidFill>
              <a:srgbClr val="FFFAF0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3F3F3"/>
              </a:solidFill>
            </a:endParaRPr>
          </a:p>
        </p:txBody>
      </p:sp>
      <p:sp>
        <p:nvSpPr>
          <p:cNvPr id="26" name="Google Shape;638;p29">
            <a:extLst>
              <a:ext uri="{FF2B5EF4-FFF2-40B4-BE49-F238E27FC236}">
                <a16:creationId xmlns:a16="http://schemas.microsoft.com/office/drawing/2014/main" id="{9B687DAC-5DCB-E52E-D91F-104DFFF48395}"/>
              </a:ext>
            </a:extLst>
          </p:cNvPr>
          <p:cNvSpPr/>
          <p:nvPr/>
        </p:nvSpPr>
        <p:spPr>
          <a:xfrm>
            <a:off x="3660753" y="883335"/>
            <a:ext cx="1822491" cy="407266"/>
          </a:xfrm>
          <a:custGeom>
            <a:avLst/>
            <a:gdLst/>
            <a:ahLst/>
            <a:cxnLst/>
            <a:rect l="l" t="t" r="r" b="b"/>
            <a:pathLst>
              <a:path w="21909" h="11552" fill="none" extrusionOk="0">
                <a:moveTo>
                  <a:pt x="21909" y="11552"/>
                </a:moveTo>
                <a:lnTo>
                  <a:pt x="10358" y="1"/>
                </a:lnTo>
                <a:lnTo>
                  <a:pt x="1" y="1"/>
                </a:lnTo>
              </a:path>
            </a:pathLst>
          </a:custGeom>
          <a:noFill/>
          <a:ln w="10800" cap="flat" cmpd="sng">
            <a:solidFill>
              <a:srgbClr val="FFFAF0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3F3F3"/>
              </a:solidFill>
            </a:endParaRPr>
          </a:p>
        </p:txBody>
      </p:sp>
      <p:sp>
        <p:nvSpPr>
          <p:cNvPr id="27" name="Google Shape;640;p29">
            <a:extLst>
              <a:ext uri="{FF2B5EF4-FFF2-40B4-BE49-F238E27FC236}">
                <a16:creationId xmlns:a16="http://schemas.microsoft.com/office/drawing/2014/main" id="{22086862-2431-8F77-8630-FBCF611B65CC}"/>
              </a:ext>
            </a:extLst>
          </p:cNvPr>
          <p:cNvSpPr/>
          <p:nvPr/>
        </p:nvSpPr>
        <p:spPr>
          <a:xfrm>
            <a:off x="3567930" y="840623"/>
            <a:ext cx="85000" cy="85423"/>
          </a:xfrm>
          <a:custGeom>
            <a:avLst/>
            <a:gdLst/>
            <a:ahLst/>
            <a:cxnLst/>
            <a:rect l="l" t="t" r="r" b="b"/>
            <a:pathLst>
              <a:path w="2411" h="2423" fill="none" extrusionOk="0">
                <a:moveTo>
                  <a:pt x="0" y="1"/>
                </a:moveTo>
                <a:lnTo>
                  <a:pt x="2410" y="1"/>
                </a:lnTo>
                <a:lnTo>
                  <a:pt x="2410" y="2423"/>
                </a:lnTo>
                <a:lnTo>
                  <a:pt x="0" y="2423"/>
                </a:lnTo>
                <a:close/>
              </a:path>
            </a:pathLst>
          </a:custGeom>
          <a:noFill/>
          <a:ln w="10800" cap="flat" cmpd="sng">
            <a:solidFill>
              <a:srgbClr val="FFFAF0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3F3F3"/>
              </a:solidFill>
            </a:endParaRPr>
          </a:p>
        </p:txBody>
      </p:sp>
      <p:sp>
        <p:nvSpPr>
          <p:cNvPr id="28" name="Google Shape;637;p29">
            <a:extLst>
              <a:ext uri="{FF2B5EF4-FFF2-40B4-BE49-F238E27FC236}">
                <a16:creationId xmlns:a16="http://schemas.microsoft.com/office/drawing/2014/main" id="{67B5A91C-33FE-D331-6F21-920116A1457B}"/>
              </a:ext>
            </a:extLst>
          </p:cNvPr>
          <p:cNvSpPr/>
          <p:nvPr/>
        </p:nvSpPr>
        <p:spPr>
          <a:xfrm>
            <a:off x="2636685" y="3607837"/>
            <a:ext cx="1622505" cy="407266"/>
          </a:xfrm>
          <a:custGeom>
            <a:avLst/>
            <a:gdLst/>
            <a:ahLst/>
            <a:cxnLst/>
            <a:rect l="l" t="t" r="r" b="b"/>
            <a:pathLst>
              <a:path w="21909" h="11552" fill="none" extrusionOk="0">
                <a:moveTo>
                  <a:pt x="0" y="1"/>
                </a:moveTo>
                <a:lnTo>
                  <a:pt x="11551" y="11552"/>
                </a:lnTo>
                <a:lnTo>
                  <a:pt x="21908" y="11552"/>
                </a:lnTo>
              </a:path>
            </a:pathLst>
          </a:custGeom>
          <a:noFill/>
          <a:ln w="10800" cap="flat" cmpd="sng">
            <a:solidFill>
              <a:srgbClr val="FFFAF0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3F3F3"/>
              </a:solidFill>
            </a:endParaRPr>
          </a:p>
        </p:txBody>
      </p:sp>
      <p:sp>
        <p:nvSpPr>
          <p:cNvPr id="29" name="Google Shape;206;p30">
            <a:extLst>
              <a:ext uri="{FF2B5EF4-FFF2-40B4-BE49-F238E27FC236}">
                <a16:creationId xmlns:a16="http://schemas.microsoft.com/office/drawing/2014/main" id="{DC6CA33E-B26F-B8F1-6D7D-4418121F055D}"/>
              </a:ext>
            </a:extLst>
          </p:cNvPr>
          <p:cNvSpPr txBox="1">
            <a:spLocks/>
          </p:cNvSpPr>
          <p:nvPr/>
        </p:nvSpPr>
        <p:spPr>
          <a:xfrm>
            <a:off x="-91701" y="854483"/>
            <a:ext cx="3653669" cy="3151351"/>
          </a:xfrm>
          <a:prstGeom prst="rect">
            <a:avLst/>
          </a:prstGeom>
          <a:noFill/>
          <a:ln w="3175">
            <a:solidFill>
              <a:srgbClr val="002060"/>
            </a:solidFill>
            <a:prstDash val="lgDashDotDot"/>
            <a:extLst>
              <a:ext uri="{C807C97D-BFC1-408E-A445-0C87EB9F89A2}">
                <ask:lineSketchStyleProps xmlns:ask="http://schemas.microsoft.com/office/drawing/2018/sketchyshapes" sd="715884565">
                  <a:custGeom>
                    <a:avLst/>
                    <a:gdLst>
                      <a:gd name="connsiteX0" fmla="*/ 0 w 4220472"/>
                      <a:gd name="connsiteY0" fmla="*/ 0 h 1500793"/>
                      <a:gd name="connsiteX1" fmla="*/ 443150 w 4220472"/>
                      <a:gd name="connsiteY1" fmla="*/ 0 h 1500793"/>
                      <a:gd name="connsiteX2" fmla="*/ 1055118 w 4220472"/>
                      <a:gd name="connsiteY2" fmla="*/ 0 h 1500793"/>
                      <a:gd name="connsiteX3" fmla="*/ 1540472 w 4220472"/>
                      <a:gd name="connsiteY3" fmla="*/ 0 h 1500793"/>
                      <a:gd name="connsiteX4" fmla="*/ 1983622 w 4220472"/>
                      <a:gd name="connsiteY4" fmla="*/ 0 h 1500793"/>
                      <a:gd name="connsiteX5" fmla="*/ 2511181 w 4220472"/>
                      <a:gd name="connsiteY5" fmla="*/ 0 h 1500793"/>
                      <a:gd name="connsiteX6" fmla="*/ 2996535 w 4220472"/>
                      <a:gd name="connsiteY6" fmla="*/ 0 h 1500793"/>
                      <a:gd name="connsiteX7" fmla="*/ 3397480 w 4220472"/>
                      <a:gd name="connsiteY7" fmla="*/ 0 h 1500793"/>
                      <a:gd name="connsiteX8" fmla="*/ 4220472 w 4220472"/>
                      <a:gd name="connsiteY8" fmla="*/ 0 h 1500793"/>
                      <a:gd name="connsiteX9" fmla="*/ 4220472 w 4220472"/>
                      <a:gd name="connsiteY9" fmla="*/ 530280 h 1500793"/>
                      <a:gd name="connsiteX10" fmla="*/ 4220472 w 4220472"/>
                      <a:gd name="connsiteY10" fmla="*/ 1060560 h 1500793"/>
                      <a:gd name="connsiteX11" fmla="*/ 4220472 w 4220472"/>
                      <a:gd name="connsiteY11" fmla="*/ 1500793 h 1500793"/>
                      <a:gd name="connsiteX12" fmla="*/ 3692913 w 4220472"/>
                      <a:gd name="connsiteY12" fmla="*/ 1500793 h 1500793"/>
                      <a:gd name="connsiteX13" fmla="*/ 3123149 w 4220472"/>
                      <a:gd name="connsiteY13" fmla="*/ 1500793 h 1500793"/>
                      <a:gd name="connsiteX14" fmla="*/ 2553386 w 4220472"/>
                      <a:gd name="connsiteY14" fmla="*/ 1500793 h 1500793"/>
                      <a:gd name="connsiteX15" fmla="*/ 1983622 w 4220472"/>
                      <a:gd name="connsiteY15" fmla="*/ 1500793 h 1500793"/>
                      <a:gd name="connsiteX16" fmla="*/ 1540472 w 4220472"/>
                      <a:gd name="connsiteY16" fmla="*/ 1500793 h 1500793"/>
                      <a:gd name="connsiteX17" fmla="*/ 1139527 w 4220472"/>
                      <a:gd name="connsiteY17" fmla="*/ 1500793 h 1500793"/>
                      <a:gd name="connsiteX18" fmla="*/ 654173 w 4220472"/>
                      <a:gd name="connsiteY18" fmla="*/ 1500793 h 1500793"/>
                      <a:gd name="connsiteX19" fmla="*/ 0 w 4220472"/>
                      <a:gd name="connsiteY19" fmla="*/ 1500793 h 1500793"/>
                      <a:gd name="connsiteX20" fmla="*/ 0 w 4220472"/>
                      <a:gd name="connsiteY20" fmla="*/ 1030545 h 1500793"/>
                      <a:gd name="connsiteX21" fmla="*/ 0 w 4220472"/>
                      <a:gd name="connsiteY21" fmla="*/ 500264 h 1500793"/>
                      <a:gd name="connsiteX22" fmla="*/ 0 w 4220472"/>
                      <a:gd name="connsiteY22" fmla="*/ 0 h 15007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4220472" h="1500793" extrusionOk="0">
                        <a:moveTo>
                          <a:pt x="0" y="0"/>
                        </a:moveTo>
                        <a:cubicBezTo>
                          <a:pt x="194579" y="-31356"/>
                          <a:pt x="314856" y="40759"/>
                          <a:pt x="443150" y="0"/>
                        </a:cubicBezTo>
                        <a:cubicBezTo>
                          <a:pt x="571444" y="-40759"/>
                          <a:pt x="852139" y="30657"/>
                          <a:pt x="1055118" y="0"/>
                        </a:cubicBezTo>
                        <a:cubicBezTo>
                          <a:pt x="1258097" y="-30657"/>
                          <a:pt x="1424362" y="35707"/>
                          <a:pt x="1540472" y="0"/>
                        </a:cubicBezTo>
                        <a:cubicBezTo>
                          <a:pt x="1656582" y="-35707"/>
                          <a:pt x="1806036" y="400"/>
                          <a:pt x="1983622" y="0"/>
                        </a:cubicBezTo>
                        <a:cubicBezTo>
                          <a:pt x="2161208" y="-400"/>
                          <a:pt x="2277704" y="31165"/>
                          <a:pt x="2511181" y="0"/>
                        </a:cubicBezTo>
                        <a:cubicBezTo>
                          <a:pt x="2744658" y="-31165"/>
                          <a:pt x="2777195" y="363"/>
                          <a:pt x="2996535" y="0"/>
                        </a:cubicBezTo>
                        <a:cubicBezTo>
                          <a:pt x="3215875" y="-363"/>
                          <a:pt x="3239531" y="17667"/>
                          <a:pt x="3397480" y="0"/>
                        </a:cubicBezTo>
                        <a:cubicBezTo>
                          <a:pt x="3555429" y="-17667"/>
                          <a:pt x="3926000" y="23023"/>
                          <a:pt x="4220472" y="0"/>
                        </a:cubicBezTo>
                        <a:cubicBezTo>
                          <a:pt x="4279787" y="161336"/>
                          <a:pt x="4187228" y="301861"/>
                          <a:pt x="4220472" y="530280"/>
                        </a:cubicBezTo>
                        <a:cubicBezTo>
                          <a:pt x="4253716" y="758699"/>
                          <a:pt x="4189974" y="848257"/>
                          <a:pt x="4220472" y="1060560"/>
                        </a:cubicBezTo>
                        <a:cubicBezTo>
                          <a:pt x="4250970" y="1272863"/>
                          <a:pt x="4191091" y="1351932"/>
                          <a:pt x="4220472" y="1500793"/>
                        </a:cubicBezTo>
                        <a:cubicBezTo>
                          <a:pt x="4112620" y="1549185"/>
                          <a:pt x="3816879" y="1481974"/>
                          <a:pt x="3692913" y="1500793"/>
                        </a:cubicBezTo>
                        <a:cubicBezTo>
                          <a:pt x="3568947" y="1519612"/>
                          <a:pt x="3346017" y="1486020"/>
                          <a:pt x="3123149" y="1500793"/>
                        </a:cubicBezTo>
                        <a:cubicBezTo>
                          <a:pt x="2900281" y="1515566"/>
                          <a:pt x="2678692" y="1490024"/>
                          <a:pt x="2553386" y="1500793"/>
                        </a:cubicBezTo>
                        <a:cubicBezTo>
                          <a:pt x="2428080" y="1511562"/>
                          <a:pt x="2102509" y="1494369"/>
                          <a:pt x="1983622" y="1500793"/>
                        </a:cubicBezTo>
                        <a:cubicBezTo>
                          <a:pt x="1864735" y="1507217"/>
                          <a:pt x="1673068" y="1498090"/>
                          <a:pt x="1540472" y="1500793"/>
                        </a:cubicBezTo>
                        <a:cubicBezTo>
                          <a:pt x="1407876" y="1503496"/>
                          <a:pt x="1284379" y="1469330"/>
                          <a:pt x="1139527" y="1500793"/>
                        </a:cubicBezTo>
                        <a:cubicBezTo>
                          <a:pt x="994675" y="1532256"/>
                          <a:pt x="786568" y="1446126"/>
                          <a:pt x="654173" y="1500793"/>
                        </a:cubicBezTo>
                        <a:cubicBezTo>
                          <a:pt x="521778" y="1555460"/>
                          <a:pt x="142141" y="1436565"/>
                          <a:pt x="0" y="1500793"/>
                        </a:cubicBezTo>
                        <a:cubicBezTo>
                          <a:pt x="-25961" y="1268812"/>
                          <a:pt x="38573" y="1179965"/>
                          <a:pt x="0" y="1030545"/>
                        </a:cubicBezTo>
                        <a:cubicBezTo>
                          <a:pt x="-38573" y="881125"/>
                          <a:pt x="7296" y="653645"/>
                          <a:pt x="0" y="500264"/>
                        </a:cubicBezTo>
                        <a:cubicBezTo>
                          <a:pt x="-7296" y="346883"/>
                          <a:pt x="46176" y="2289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marR="0" lvl="1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marR="0" lvl="2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marR="0" lvl="3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marR="0" lvl="4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marR="0" lvl="5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marR="0" lvl="6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marR="0" lvl="7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marR="0" lvl="8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pPr marL="285750" lvl="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Open RAN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presupune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separarea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funcțiilor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principale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ale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rețelei</a:t>
            </a:r>
            <a:endParaRPr lang="en-US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lvl="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ro-RO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În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arhitectura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Open RAN,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componentele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principale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ale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rețelei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comunică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prin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interfețe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deschise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și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standardizate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:</a:t>
            </a:r>
            <a:endParaRPr lang="ro-RO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742950" lvl="1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ro-RO" sz="1600" b="1" dirty="0">
                <a:solidFill>
                  <a:schemeClr val="bg1"/>
                </a:solidFill>
                <a:latin typeface="Livvic" pitchFamily="2" charset="0"/>
              </a:rPr>
              <a:t>Open Fronthaul</a:t>
            </a:r>
          </a:p>
          <a:p>
            <a:pPr marL="742950" lvl="1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ro-RO" sz="1600" b="1" dirty="0">
                <a:solidFill>
                  <a:schemeClr val="bg1"/>
                </a:solidFill>
                <a:latin typeface="Livvic" pitchFamily="2" charset="0"/>
              </a:rPr>
              <a:t>Open Midhaul</a:t>
            </a:r>
          </a:p>
          <a:p>
            <a:pPr marL="742950" lvl="1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ro-RO" sz="1600" b="1" dirty="0">
                <a:solidFill>
                  <a:schemeClr val="bg1"/>
                </a:solidFill>
                <a:latin typeface="Livvic" pitchFamily="2" charset="0"/>
              </a:rPr>
              <a:t>Open Backhaul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6" name="Google Shape;639;p29">
            <a:extLst>
              <a:ext uri="{FF2B5EF4-FFF2-40B4-BE49-F238E27FC236}">
                <a16:creationId xmlns:a16="http://schemas.microsoft.com/office/drawing/2014/main" id="{53003C28-C09E-39FD-5D65-D0E439576B6A}"/>
              </a:ext>
            </a:extLst>
          </p:cNvPr>
          <p:cNvSpPr/>
          <p:nvPr/>
        </p:nvSpPr>
        <p:spPr>
          <a:xfrm>
            <a:off x="4268633" y="3970853"/>
            <a:ext cx="85538" cy="88500"/>
          </a:xfrm>
          <a:custGeom>
            <a:avLst/>
            <a:gdLst/>
            <a:ahLst/>
            <a:cxnLst/>
            <a:rect l="l" t="t" r="r" b="b"/>
            <a:pathLst>
              <a:path w="2411" h="2423" fill="none" extrusionOk="0">
                <a:moveTo>
                  <a:pt x="0" y="1"/>
                </a:moveTo>
                <a:lnTo>
                  <a:pt x="2410" y="1"/>
                </a:lnTo>
                <a:lnTo>
                  <a:pt x="2410" y="2423"/>
                </a:lnTo>
                <a:lnTo>
                  <a:pt x="0" y="2423"/>
                </a:lnTo>
                <a:close/>
              </a:path>
            </a:pathLst>
          </a:custGeom>
          <a:noFill/>
          <a:ln w="10800" cap="flat" cmpd="sng">
            <a:solidFill>
              <a:srgbClr val="FFFAF0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3F3F3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9B0199-A85E-E5F6-FBAD-222D74651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622" y="2430158"/>
            <a:ext cx="4620351" cy="13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7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52A89F-360A-F706-1372-9AD28E5F8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Google Shape;248;p35">
            <a:extLst>
              <a:ext uri="{FF2B5EF4-FFF2-40B4-BE49-F238E27FC236}">
                <a16:creationId xmlns:a16="http://schemas.microsoft.com/office/drawing/2014/main" id="{A3BD7E80-E7CC-D299-B9E9-F0A6CDB27AF1}"/>
              </a:ext>
            </a:extLst>
          </p:cNvPr>
          <p:cNvSpPr txBox="1">
            <a:spLocks/>
          </p:cNvSpPr>
          <p:nvPr/>
        </p:nvSpPr>
        <p:spPr>
          <a:xfrm>
            <a:off x="0" y="4342031"/>
            <a:ext cx="1738800" cy="58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ivvic"/>
              <a:buNone/>
              <a:defRPr sz="6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" dirty="0">
                <a:solidFill>
                  <a:schemeClr val="lt1"/>
                </a:solidFill>
              </a:rPr>
              <a:t>03</a:t>
            </a:r>
          </a:p>
        </p:txBody>
      </p:sp>
      <p:sp>
        <p:nvSpPr>
          <p:cNvPr id="5" name="Google Shape;247;p35">
            <a:extLst>
              <a:ext uri="{FF2B5EF4-FFF2-40B4-BE49-F238E27FC236}">
                <a16:creationId xmlns:a16="http://schemas.microsoft.com/office/drawing/2014/main" id="{94379FE4-0BE4-F621-533E-9728D40C39C9}"/>
              </a:ext>
            </a:extLst>
          </p:cNvPr>
          <p:cNvSpPr txBox="1">
            <a:spLocks/>
          </p:cNvSpPr>
          <p:nvPr/>
        </p:nvSpPr>
        <p:spPr>
          <a:xfrm>
            <a:off x="0" y="1237704"/>
            <a:ext cx="5802131" cy="698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pPr algn="ctr"/>
            <a:r>
              <a:rPr lang="en-US" sz="3200" dirty="0">
                <a:solidFill>
                  <a:schemeClr val="lt1"/>
                </a:solidFill>
              </a:rPr>
              <a:t>ARHITECTURA SISTEMULUI PROPUS</a:t>
            </a:r>
          </a:p>
        </p:txBody>
      </p:sp>
    </p:spTree>
    <p:extLst>
      <p:ext uri="{BB962C8B-B14F-4D97-AF65-F5344CB8AC3E}">
        <p14:creationId xmlns:p14="http://schemas.microsoft.com/office/powerpoint/2010/main" val="4043003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2F0196F-A900-C6C8-2090-D958067C1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1" name="Google Shape;657;p30">
            <a:extLst>
              <a:ext uri="{FF2B5EF4-FFF2-40B4-BE49-F238E27FC236}">
                <a16:creationId xmlns:a16="http://schemas.microsoft.com/office/drawing/2014/main" id="{998FB015-D212-EED4-D1CE-6A9574774DB5}"/>
              </a:ext>
            </a:extLst>
          </p:cNvPr>
          <p:cNvSpPr/>
          <p:nvPr/>
        </p:nvSpPr>
        <p:spPr>
          <a:xfrm rot="10800000">
            <a:off x="0" y="174342"/>
            <a:ext cx="2328558" cy="796422"/>
          </a:xfrm>
          <a:custGeom>
            <a:avLst/>
            <a:gdLst/>
            <a:ahLst/>
            <a:cxnLst/>
            <a:rect l="l" t="t" r="r" b="b"/>
            <a:pathLst>
              <a:path w="183395" h="38588" extrusionOk="0">
                <a:moveTo>
                  <a:pt x="0" y="1"/>
                </a:moveTo>
                <a:lnTo>
                  <a:pt x="0" y="18282"/>
                </a:lnTo>
                <a:lnTo>
                  <a:pt x="20146" y="38519"/>
                </a:lnTo>
                <a:lnTo>
                  <a:pt x="20215" y="38588"/>
                </a:lnTo>
                <a:lnTo>
                  <a:pt x="183395" y="38588"/>
                </a:lnTo>
                <a:lnTo>
                  <a:pt x="183395" y="38156"/>
                </a:lnTo>
                <a:lnTo>
                  <a:pt x="20385" y="38156"/>
                </a:lnTo>
                <a:lnTo>
                  <a:pt x="421" y="18101"/>
                </a:lnTo>
                <a:lnTo>
                  <a:pt x="421" y="1"/>
                </a:lnTo>
                <a:close/>
              </a:path>
            </a:pathLst>
          </a:custGeom>
          <a:solidFill>
            <a:srgbClr val="FFFA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59;p36">
            <a:extLst>
              <a:ext uri="{FF2B5EF4-FFF2-40B4-BE49-F238E27FC236}">
                <a16:creationId xmlns:a16="http://schemas.microsoft.com/office/drawing/2014/main" id="{61097266-E672-40A4-B194-4D7E7C4D06A7}"/>
              </a:ext>
            </a:extLst>
          </p:cNvPr>
          <p:cNvSpPr txBox="1">
            <a:spLocks/>
          </p:cNvSpPr>
          <p:nvPr/>
        </p:nvSpPr>
        <p:spPr>
          <a:xfrm>
            <a:off x="-1757604" y="916955"/>
            <a:ext cx="8221320" cy="456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pPr algn="ctr"/>
            <a:r>
              <a:rPr lang="en-US" sz="2400" dirty="0">
                <a:solidFill>
                  <a:schemeClr val="bg1"/>
                </a:solidFill>
              </a:rPr>
              <a:t>Schema bloc a </a:t>
            </a:r>
            <a:r>
              <a:rPr lang="en-US" sz="2400" dirty="0" err="1">
                <a:solidFill>
                  <a:schemeClr val="bg1"/>
                </a:solidFill>
              </a:rPr>
              <a:t>sistemului</a:t>
            </a:r>
            <a:endParaRPr lang="ro-RO" sz="2400" dirty="0">
              <a:solidFill>
                <a:schemeClr val="bg1"/>
              </a:solidFill>
            </a:endParaRPr>
          </a:p>
        </p:txBody>
      </p:sp>
      <p:sp>
        <p:nvSpPr>
          <p:cNvPr id="4" name="Google Shape;259;p36">
            <a:extLst>
              <a:ext uri="{FF2B5EF4-FFF2-40B4-BE49-F238E27FC236}">
                <a16:creationId xmlns:a16="http://schemas.microsoft.com/office/drawing/2014/main" id="{3E3E708A-F3F0-2648-197B-BDA0546DE335}"/>
              </a:ext>
            </a:extLst>
          </p:cNvPr>
          <p:cNvSpPr txBox="1">
            <a:spLocks/>
          </p:cNvSpPr>
          <p:nvPr/>
        </p:nvSpPr>
        <p:spPr>
          <a:xfrm>
            <a:off x="4459575" y="149964"/>
            <a:ext cx="4586990" cy="4843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Platforma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experimentală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integrează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unitatea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radi</a:t>
            </a:r>
            <a:r>
              <a:rPr lang="ro-RO" dirty="0">
                <a:solidFill>
                  <a:schemeClr val="bg1"/>
                </a:solidFill>
              </a:rPr>
              <a:t>o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funcțiile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virtualizate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Accelleran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și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nucleul</a:t>
            </a:r>
            <a:r>
              <a:rPr lang="en-US" dirty="0">
                <a:solidFill>
                  <a:schemeClr val="bg1"/>
                </a:solidFill>
              </a:rPr>
              <a:t> 5G.</a:t>
            </a:r>
          </a:p>
          <a:p>
            <a:pPr marL="285750" lvl="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Conectarea</a:t>
            </a:r>
            <a:r>
              <a:rPr lang="en-US" dirty="0">
                <a:solidFill>
                  <a:schemeClr val="bg1"/>
                </a:solidFill>
              </a:rPr>
              <a:t> RU la server se </a:t>
            </a:r>
            <a:r>
              <a:rPr lang="en-US" dirty="0" err="1">
                <a:solidFill>
                  <a:schemeClr val="bg1"/>
                </a:solidFill>
              </a:rPr>
              <a:t>realizează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prin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interfața</a:t>
            </a:r>
            <a:r>
              <a:rPr lang="en-US" dirty="0">
                <a:solidFill>
                  <a:schemeClr val="bg1"/>
                </a:solidFill>
              </a:rPr>
              <a:t> O-RAN Fronthaul, </a:t>
            </a:r>
            <a:r>
              <a:rPr lang="en-US" dirty="0" err="1">
                <a:solidFill>
                  <a:schemeClr val="bg1"/>
                </a:solidFill>
              </a:rPr>
              <a:t>utilizând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fibră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optică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Sistemul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operează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în</a:t>
            </a:r>
            <a:r>
              <a:rPr lang="en-US" dirty="0">
                <a:solidFill>
                  <a:schemeClr val="bg1"/>
                </a:solidFill>
              </a:rPr>
              <a:t> mod 5G Standalone, cu </a:t>
            </a:r>
            <a:r>
              <a:rPr lang="en-US" dirty="0" err="1">
                <a:solidFill>
                  <a:schemeClr val="bg1"/>
                </a:solidFill>
              </a:rPr>
              <a:t>sincronizare</a:t>
            </a:r>
            <a:r>
              <a:rPr lang="en-US" dirty="0">
                <a:solidFill>
                  <a:schemeClr val="bg1"/>
                </a:solidFill>
              </a:rPr>
              <a:t> GPS </a:t>
            </a:r>
            <a:r>
              <a:rPr lang="en-US" dirty="0" err="1">
                <a:solidFill>
                  <a:schemeClr val="bg1"/>
                </a:solidFill>
              </a:rPr>
              <a:t>și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conectivitate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externă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prin</a:t>
            </a:r>
            <a:r>
              <a:rPr lang="en-US" dirty="0">
                <a:solidFill>
                  <a:schemeClr val="bg1"/>
                </a:solidFill>
              </a:rPr>
              <a:t> Huawei 5G CPE.</a:t>
            </a: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7EB9E8-B8B9-372F-3FF9-F188DAA44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260" y="1523221"/>
            <a:ext cx="4019591" cy="327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217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2F0196F-A900-C6C8-2090-D958067C1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1" name="Google Shape;657;p30">
            <a:extLst>
              <a:ext uri="{FF2B5EF4-FFF2-40B4-BE49-F238E27FC236}">
                <a16:creationId xmlns:a16="http://schemas.microsoft.com/office/drawing/2014/main" id="{998FB015-D212-EED4-D1CE-6A9574774DB5}"/>
              </a:ext>
            </a:extLst>
          </p:cNvPr>
          <p:cNvSpPr/>
          <p:nvPr/>
        </p:nvSpPr>
        <p:spPr>
          <a:xfrm rot="10800000">
            <a:off x="0" y="84401"/>
            <a:ext cx="6643868" cy="796422"/>
          </a:xfrm>
          <a:custGeom>
            <a:avLst/>
            <a:gdLst/>
            <a:ahLst/>
            <a:cxnLst/>
            <a:rect l="l" t="t" r="r" b="b"/>
            <a:pathLst>
              <a:path w="183395" h="38588" extrusionOk="0">
                <a:moveTo>
                  <a:pt x="0" y="1"/>
                </a:moveTo>
                <a:lnTo>
                  <a:pt x="0" y="18282"/>
                </a:lnTo>
                <a:lnTo>
                  <a:pt x="20146" y="38519"/>
                </a:lnTo>
                <a:lnTo>
                  <a:pt x="20215" y="38588"/>
                </a:lnTo>
                <a:lnTo>
                  <a:pt x="183395" y="38588"/>
                </a:lnTo>
                <a:lnTo>
                  <a:pt x="183395" y="38156"/>
                </a:lnTo>
                <a:lnTo>
                  <a:pt x="20385" y="38156"/>
                </a:lnTo>
                <a:lnTo>
                  <a:pt x="421" y="18101"/>
                </a:lnTo>
                <a:lnTo>
                  <a:pt x="421" y="1"/>
                </a:lnTo>
                <a:close/>
              </a:path>
            </a:pathLst>
          </a:custGeom>
          <a:solidFill>
            <a:srgbClr val="FFFA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59;p36">
            <a:extLst>
              <a:ext uri="{FF2B5EF4-FFF2-40B4-BE49-F238E27FC236}">
                <a16:creationId xmlns:a16="http://schemas.microsoft.com/office/drawing/2014/main" id="{3E3E708A-F3F0-2648-197B-BDA0546DE335}"/>
              </a:ext>
            </a:extLst>
          </p:cNvPr>
          <p:cNvSpPr txBox="1">
            <a:spLocks/>
          </p:cNvSpPr>
          <p:nvPr/>
        </p:nvSpPr>
        <p:spPr>
          <a:xfrm>
            <a:off x="4216839" y="1299900"/>
            <a:ext cx="4529922" cy="37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pPr marL="285750" indent="-285750" algn="just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Unitatea</a:t>
            </a:r>
            <a:r>
              <a:rPr lang="en-US" sz="1600" dirty="0">
                <a:solidFill>
                  <a:schemeClr val="bg1"/>
                </a:solidFill>
              </a:rPr>
              <a:t> radio </a:t>
            </a:r>
            <a:r>
              <a:rPr lang="en-US" sz="1600" dirty="0" err="1">
                <a:solidFill>
                  <a:schemeClr val="bg1"/>
                </a:solidFill>
              </a:rPr>
              <a:t>Benetel</a:t>
            </a:r>
            <a:r>
              <a:rPr lang="en-US" sz="1600" dirty="0">
                <a:solidFill>
                  <a:schemeClr val="bg1"/>
                </a:solidFill>
              </a:rPr>
              <a:t> RAN550</a:t>
            </a:r>
            <a:r>
              <a:rPr lang="ro-RO" sz="1600" dirty="0">
                <a:solidFill>
                  <a:schemeClr val="bg1"/>
                </a:solidFill>
              </a:rPr>
              <a:t>,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echipament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comercial</a:t>
            </a:r>
            <a:r>
              <a:rPr lang="en-US" sz="1600" dirty="0">
                <a:solidFill>
                  <a:schemeClr val="bg1"/>
                </a:solidFill>
              </a:rPr>
              <a:t> indoor, </a:t>
            </a:r>
            <a:r>
              <a:rPr lang="en-US" sz="1600" dirty="0" err="1">
                <a:solidFill>
                  <a:schemeClr val="bg1"/>
                </a:solidFill>
              </a:rPr>
              <a:t>montat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în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laborator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și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conectat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prin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fibră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optică</a:t>
            </a:r>
            <a:endParaRPr lang="ro-RO" sz="1600" dirty="0">
              <a:solidFill>
                <a:schemeClr val="bg1"/>
              </a:solidFill>
            </a:endParaRPr>
          </a:p>
          <a:p>
            <a:pPr marL="285750" indent="-285750" algn="just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 algn="just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ro-RO" altLang="en-US" sz="1600" dirty="0">
                <a:solidFill>
                  <a:schemeClr val="bg1"/>
                </a:solidFill>
                <a:latin typeface="Livvic" pitchFamily="2" charset="0"/>
              </a:rPr>
              <a:t>Serverul </a:t>
            </a:r>
            <a:r>
              <a:rPr lang="en-US" altLang="en-US" sz="1600" dirty="0" err="1">
                <a:solidFill>
                  <a:schemeClr val="bg1"/>
                </a:solidFill>
                <a:latin typeface="Livvic" pitchFamily="2" charset="0"/>
              </a:rPr>
              <a:t>găzduiește</a:t>
            </a:r>
            <a:r>
              <a:rPr lang="en-US" altLang="en-US" sz="1600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Livvic" pitchFamily="2" charset="0"/>
              </a:rPr>
              <a:t>mașinile</a:t>
            </a:r>
            <a:r>
              <a:rPr lang="en-US" altLang="en-US" sz="1600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Livvic" pitchFamily="2" charset="0"/>
              </a:rPr>
              <a:t>virtuale</a:t>
            </a:r>
            <a:r>
              <a:rPr lang="en-US" altLang="en-US" sz="1600" dirty="0">
                <a:solidFill>
                  <a:schemeClr val="bg1"/>
                </a:solidFill>
                <a:latin typeface="Livvic" pitchFamily="2" charset="0"/>
              </a:rPr>
              <a:t> (</a:t>
            </a:r>
            <a:r>
              <a:rPr lang="en-US" altLang="en-US" sz="1600" dirty="0" err="1">
                <a:solidFill>
                  <a:schemeClr val="bg1"/>
                </a:solidFill>
                <a:latin typeface="Livvic" pitchFamily="2" charset="0"/>
              </a:rPr>
              <a:t>vRAN</a:t>
            </a:r>
            <a:r>
              <a:rPr lang="en-US" altLang="en-US" sz="1600" dirty="0">
                <a:solidFill>
                  <a:schemeClr val="bg1"/>
                </a:solidFill>
                <a:latin typeface="Livvic" pitchFamily="2" charset="0"/>
              </a:rPr>
              <a:t> + 5G Core)</a:t>
            </a:r>
          </a:p>
          <a:p>
            <a:pPr marL="285750" indent="-285750" algn="just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dirty="0">
                <a:solidFill>
                  <a:schemeClr val="bg1"/>
                </a:solidFill>
              </a:rPr>
              <a:t>Sursa GPS externa: </a:t>
            </a:r>
            <a:r>
              <a:rPr lang="en-US" sz="1600" dirty="0" err="1">
                <a:solidFill>
                  <a:schemeClr val="bg1"/>
                </a:solidFill>
              </a:rPr>
              <a:t>utilizata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pentru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sincronizarea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precisa</a:t>
            </a:r>
            <a:r>
              <a:rPr lang="en-US" sz="1600" dirty="0">
                <a:solidFill>
                  <a:schemeClr val="bg1"/>
                </a:solidFill>
              </a:rPr>
              <a:t> a </a:t>
            </a:r>
            <a:r>
              <a:rPr lang="en-US" sz="1600" dirty="0" err="1">
                <a:solidFill>
                  <a:schemeClr val="bg1"/>
                </a:solidFill>
              </a:rPr>
              <a:t>cadrelor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critică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pentru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stabilitatea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semnalului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  <a:endParaRPr lang="en-US" altLang="en-US" sz="1600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Catamaran Light"/>
            </a:endParaRPr>
          </a:p>
          <a:p>
            <a:pPr marL="28575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Catamaran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56D2E9-CAB3-CBD5-F160-AF8AE5C34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890" y="419672"/>
            <a:ext cx="2172869" cy="23378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3B10FD-D864-68BD-1542-0F0F49D40D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218" y="2979778"/>
            <a:ext cx="2693766" cy="174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766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EAA6756-FE1E-7F49-9B87-065E5E759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102"/>
            <a:ext cx="9144000" cy="5213602"/>
          </a:xfrm>
          <a:prstGeom prst="rect">
            <a:avLst/>
          </a:prstGeom>
        </p:spPr>
      </p:pic>
      <p:pic>
        <p:nvPicPr>
          <p:cNvPr id="8" name="Google Shape;1750;p43">
            <a:extLst>
              <a:ext uri="{FF2B5EF4-FFF2-40B4-BE49-F238E27FC236}">
                <a16:creationId xmlns:a16="http://schemas.microsoft.com/office/drawing/2014/main" id="{A7DE31A4-C7E3-5E49-57F4-AEEEFB92E99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6428" r="19722"/>
          <a:stretch/>
        </p:blipFill>
        <p:spPr>
          <a:xfrm rot="15104412">
            <a:off x="6253098" y="888243"/>
            <a:ext cx="3550465" cy="280213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06;p30">
            <a:extLst>
              <a:ext uri="{FF2B5EF4-FFF2-40B4-BE49-F238E27FC236}">
                <a16:creationId xmlns:a16="http://schemas.microsoft.com/office/drawing/2014/main" id="{8179D7EF-56CB-753F-82E0-C6321950F8A3}"/>
              </a:ext>
            </a:extLst>
          </p:cNvPr>
          <p:cNvSpPr txBox="1">
            <a:spLocks/>
          </p:cNvSpPr>
          <p:nvPr/>
        </p:nvSpPr>
        <p:spPr>
          <a:xfrm>
            <a:off x="141572" y="951857"/>
            <a:ext cx="4464765" cy="2801368"/>
          </a:xfrm>
          <a:prstGeom prst="rect">
            <a:avLst/>
          </a:prstGeom>
          <a:noFill/>
          <a:ln w="3175">
            <a:solidFill>
              <a:srgbClr val="002060"/>
            </a:solidFill>
            <a:prstDash val="lgDashDotDot"/>
            <a:extLst>
              <a:ext uri="{C807C97D-BFC1-408E-A445-0C87EB9F89A2}">
                <ask:lineSketchStyleProps xmlns:ask="http://schemas.microsoft.com/office/drawing/2018/sketchyshapes" sd="715884565">
                  <a:custGeom>
                    <a:avLst/>
                    <a:gdLst>
                      <a:gd name="connsiteX0" fmla="*/ 0 w 4220472"/>
                      <a:gd name="connsiteY0" fmla="*/ 0 h 1500793"/>
                      <a:gd name="connsiteX1" fmla="*/ 443150 w 4220472"/>
                      <a:gd name="connsiteY1" fmla="*/ 0 h 1500793"/>
                      <a:gd name="connsiteX2" fmla="*/ 1055118 w 4220472"/>
                      <a:gd name="connsiteY2" fmla="*/ 0 h 1500793"/>
                      <a:gd name="connsiteX3" fmla="*/ 1540472 w 4220472"/>
                      <a:gd name="connsiteY3" fmla="*/ 0 h 1500793"/>
                      <a:gd name="connsiteX4" fmla="*/ 1983622 w 4220472"/>
                      <a:gd name="connsiteY4" fmla="*/ 0 h 1500793"/>
                      <a:gd name="connsiteX5" fmla="*/ 2511181 w 4220472"/>
                      <a:gd name="connsiteY5" fmla="*/ 0 h 1500793"/>
                      <a:gd name="connsiteX6" fmla="*/ 2996535 w 4220472"/>
                      <a:gd name="connsiteY6" fmla="*/ 0 h 1500793"/>
                      <a:gd name="connsiteX7" fmla="*/ 3397480 w 4220472"/>
                      <a:gd name="connsiteY7" fmla="*/ 0 h 1500793"/>
                      <a:gd name="connsiteX8" fmla="*/ 4220472 w 4220472"/>
                      <a:gd name="connsiteY8" fmla="*/ 0 h 1500793"/>
                      <a:gd name="connsiteX9" fmla="*/ 4220472 w 4220472"/>
                      <a:gd name="connsiteY9" fmla="*/ 530280 h 1500793"/>
                      <a:gd name="connsiteX10" fmla="*/ 4220472 w 4220472"/>
                      <a:gd name="connsiteY10" fmla="*/ 1060560 h 1500793"/>
                      <a:gd name="connsiteX11" fmla="*/ 4220472 w 4220472"/>
                      <a:gd name="connsiteY11" fmla="*/ 1500793 h 1500793"/>
                      <a:gd name="connsiteX12" fmla="*/ 3692913 w 4220472"/>
                      <a:gd name="connsiteY12" fmla="*/ 1500793 h 1500793"/>
                      <a:gd name="connsiteX13" fmla="*/ 3123149 w 4220472"/>
                      <a:gd name="connsiteY13" fmla="*/ 1500793 h 1500793"/>
                      <a:gd name="connsiteX14" fmla="*/ 2553386 w 4220472"/>
                      <a:gd name="connsiteY14" fmla="*/ 1500793 h 1500793"/>
                      <a:gd name="connsiteX15" fmla="*/ 1983622 w 4220472"/>
                      <a:gd name="connsiteY15" fmla="*/ 1500793 h 1500793"/>
                      <a:gd name="connsiteX16" fmla="*/ 1540472 w 4220472"/>
                      <a:gd name="connsiteY16" fmla="*/ 1500793 h 1500793"/>
                      <a:gd name="connsiteX17" fmla="*/ 1139527 w 4220472"/>
                      <a:gd name="connsiteY17" fmla="*/ 1500793 h 1500793"/>
                      <a:gd name="connsiteX18" fmla="*/ 654173 w 4220472"/>
                      <a:gd name="connsiteY18" fmla="*/ 1500793 h 1500793"/>
                      <a:gd name="connsiteX19" fmla="*/ 0 w 4220472"/>
                      <a:gd name="connsiteY19" fmla="*/ 1500793 h 1500793"/>
                      <a:gd name="connsiteX20" fmla="*/ 0 w 4220472"/>
                      <a:gd name="connsiteY20" fmla="*/ 1030545 h 1500793"/>
                      <a:gd name="connsiteX21" fmla="*/ 0 w 4220472"/>
                      <a:gd name="connsiteY21" fmla="*/ 500264 h 1500793"/>
                      <a:gd name="connsiteX22" fmla="*/ 0 w 4220472"/>
                      <a:gd name="connsiteY22" fmla="*/ 0 h 15007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4220472" h="1500793" extrusionOk="0">
                        <a:moveTo>
                          <a:pt x="0" y="0"/>
                        </a:moveTo>
                        <a:cubicBezTo>
                          <a:pt x="194579" y="-31356"/>
                          <a:pt x="314856" y="40759"/>
                          <a:pt x="443150" y="0"/>
                        </a:cubicBezTo>
                        <a:cubicBezTo>
                          <a:pt x="571444" y="-40759"/>
                          <a:pt x="852139" y="30657"/>
                          <a:pt x="1055118" y="0"/>
                        </a:cubicBezTo>
                        <a:cubicBezTo>
                          <a:pt x="1258097" y="-30657"/>
                          <a:pt x="1424362" y="35707"/>
                          <a:pt x="1540472" y="0"/>
                        </a:cubicBezTo>
                        <a:cubicBezTo>
                          <a:pt x="1656582" y="-35707"/>
                          <a:pt x="1806036" y="400"/>
                          <a:pt x="1983622" y="0"/>
                        </a:cubicBezTo>
                        <a:cubicBezTo>
                          <a:pt x="2161208" y="-400"/>
                          <a:pt x="2277704" y="31165"/>
                          <a:pt x="2511181" y="0"/>
                        </a:cubicBezTo>
                        <a:cubicBezTo>
                          <a:pt x="2744658" y="-31165"/>
                          <a:pt x="2777195" y="363"/>
                          <a:pt x="2996535" y="0"/>
                        </a:cubicBezTo>
                        <a:cubicBezTo>
                          <a:pt x="3215875" y="-363"/>
                          <a:pt x="3239531" y="17667"/>
                          <a:pt x="3397480" y="0"/>
                        </a:cubicBezTo>
                        <a:cubicBezTo>
                          <a:pt x="3555429" y="-17667"/>
                          <a:pt x="3926000" y="23023"/>
                          <a:pt x="4220472" y="0"/>
                        </a:cubicBezTo>
                        <a:cubicBezTo>
                          <a:pt x="4279787" y="161336"/>
                          <a:pt x="4187228" y="301861"/>
                          <a:pt x="4220472" y="530280"/>
                        </a:cubicBezTo>
                        <a:cubicBezTo>
                          <a:pt x="4253716" y="758699"/>
                          <a:pt x="4189974" y="848257"/>
                          <a:pt x="4220472" y="1060560"/>
                        </a:cubicBezTo>
                        <a:cubicBezTo>
                          <a:pt x="4250970" y="1272863"/>
                          <a:pt x="4191091" y="1351932"/>
                          <a:pt x="4220472" y="1500793"/>
                        </a:cubicBezTo>
                        <a:cubicBezTo>
                          <a:pt x="4112620" y="1549185"/>
                          <a:pt x="3816879" y="1481974"/>
                          <a:pt x="3692913" y="1500793"/>
                        </a:cubicBezTo>
                        <a:cubicBezTo>
                          <a:pt x="3568947" y="1519612"/>
                          <a:pt x="3346017" y="1486020"/>
                          <a:pt x="3123149" y="1500793"/>
                        </a:cubicBezTo>
                        <a:cubicBezTo>
                          <a:pt x="2900281" y="1515566"/>
                          <a:pt x="2678692" y="1490024"/>
                          <a:pt x="2553386" y="1500793"/>
                        </a:cubicBezTo>
                        <a:cubicBezTo>
                          <a:pt x="2428080" y="1511562"/>
                          <a:pt x="2102509" y="1494369"/>
                          <a:pt x="1983622" y="1500793"/>
                        </a:cubicBezTo>
                        <a:cubicBezTo>
                          <a:pt x="1864735" y="1507217"/>
                          <a:pt x="1673068" y="1498090"/>
                          <a:pt x="1540472" y="1500793"/>
                        </a:cubicBezTo>
                        <a:cubicBezTo>
                          <a:pt x="1407876" y="1503496"/>
                          <a:pt x="1284379" y="1469330"/>
                          <a:pt x="1139527" y="1500793"/>
                        </a:cubicBezTo>
                        <a:cubicBezTo>
                          <a:pt x="994675" y="1532256"/>
                          <a:pt x="786568" y="1446126"/>
                          <a:pt x="654173" y="1500793"/>
                        </a:cubicBezTo>
                        <a:cubicBezTo>
                          <a:pt x="521778" y="1555460"/>
                          <a:pt x="142141" y="1436565"/>
                          <a:pt x="0" y="1500793"/>
                        </a:cubicBezTo>
                        <a:cubicBezTo>
                          <a:pt x="-25961" y="1268812"/>
                          <a:pt x="38573" y="1179965"/>
                          <a:pt x="0" y="1030545"/>
                        </a:cubicBezTo>
                        <a:cubicBezTo>
                          <a:pt x="-38573" y="881125"/>
                          <a:pt x="7296" y="653645"/>
                          <a:pt x="0" y="500264"/>
                        </a:cubicBezTo>
                        <a:cubicBezTo>
                          <a:pt x="-7296" y="346883"/>
                          <a:pt x="46176" y="2289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marR="0" lvl="1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marR="0" lvl="2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marR="0" lvl="3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marR="0" lvl="4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marR="0" lvl="5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marR="0" lvl="6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marR="0" lvl="7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marR="0" lvl="8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Terminal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mobil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(UE): smartphone Motorola Edge 50 Pro,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utilizat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pentru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testarea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conexiunii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5G Standalone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în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banda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n78.</a:t>
            </a: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Router Huawei 5G CPE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asigur</a:t>
            </a:r>
            <a:r>
              <a:rPr lang="ro-RO" sz="1600" b="1" dirty="0">
                <a:solidFill>
                  <a:schemeClr val="bg1"/>
                </a:solidFill>
                <a:latin typeface="Livvic" pitchFamily="2" charset="0"/>
              </a:rPr>
              <a:t>ă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legătura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dintre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rețeaua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experimentală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privată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și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internet.</a:t>
            </a:r>
            <a:endParaRPr lang="ro-RO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0" indent="0" algn="just">
              <a:buClr>
                <a:schemeClr val="bg1"/>
              </a:buClr>
              <a:buSzPct val="100000"/>
            </a:pPr>
            <a:endParaRPr lang="ro-RO" sz="1600" b="1" dirty="0">
              <a:solidFill>
                <a:schemeClr val="bg1"/>
              </a:solidFill>
              <a:latin typeface="Livvic" pitchFamily="2" charset="0"/>
            </a:endParaRPr>
          </a:p>
        </p:txBody>
      </p:sp>
      <p:pic>
        <p:nvPicPr>
          <p:cNvPr id="2" name="Picture 1" descr="A cell phone next to a computer&#10;&#10;AI-generated content may be incorrect.">
            <a:extLst>
              <a:ext uri="{FF2B5EF4-FFF2-40B4-BE49-F238E27FC236}">
                <a16:creationId xmlns:a16="http://schemas.microsoft.com/office/drawing/2014/main" id="{77E476EA-B04A-64FA-9D96-1698898B158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5432"/>
          <a:stretch>
            <a:fillRect/>
          </a:stretch>
        </p:blipFill>
        <p:spPr>
          <a:xfrm>
            <a:off x="4787834" y="123041"/>
            <a:ext cx="1942287" cy="2229500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28EE0A-9762-E20A-E70C-BA14823786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7835" y="2494479"/>
            <a:ext cx="1942287" cy="22917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CBF2-D377-C62B-D367-E0A6FAA909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83A7D3-C42C-FEB2-07E0-CBD0FE31C903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1B9125-D15C-66ED-85A4-5C7C63793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Google Shape;248;p35">
            <a:extLst>
              <a:ext uri="{FF2B5EF4-FFF2-40B4-BE49-F238E27FC236}">
                <a16:creationId xmlns:a16="http://schemas.microsoft.com/office/drawing/2014/main" id="{3AE7D7FD-489D-CD58-88E9-4959BF044951}"/>
              </a:ext>
            </a:extLst>
          </p:cNvPr>
          <p:cNvSpPr txBox="1">
            <a:spLocks/>
          </p:cNvSpPr>
          <p:nvPr/>
        </p:nvSpPr>
        <p:spPr>
          <a:xfrm>
            <a:off x="0" y="4352836"/>
            <a:ext cx="17388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ivvic"/>
              <a:buNone/>
              <a:defRPr sz="6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" dirty="0">
                <a:solidFill>
                  <a:schemeClr val="lt1"/>
                </a:solidFill>
              </a:rPr>
              <a:t>04</a:t>
            </a:r>
          </a:p>
        </p:txBody>
      </p:sp>
      <p:sp>
        <p:nvSpPr>
          <p:cNvPr id="7" name="Google Shape;247;p35">
            <a:extLst>
              <a:ext uri="{FF2B5EF4-FFF2-40B4-BE49-F238E27FC236}">
                <a16:creationId xmlns:a16="http://schemas.microsoft.com/office/drawing/2014/main" id="{3E733C82-CFFF-B743-4A15-A129C88D73AD}"/>
              </a:ext>
            </a:extLst>
          </p:cNvPr>
          <p:cNvSpPr txBox="1">
            <a:spLocks/>
          </p:cNvSpPr>
          <p:nvPr/>
        </p:nvSpPr>
        <p:spPr>
          <a:xfrm>
            <a:off x="-232348" y="1009854"/>
            <a:ext cx="5802131" cy="2110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pPr algn="ctr"/>
            <a:r>
              <a:rPr lang="en-US" sz="3200" dirty="0">
                <a:solidFill>
                  <a:schemeClr val="bg1"/>
                </a:solidFill>
              </a:rPr>
              <a:t>SETUP EXPERIMENTAL </a:t>
            </a:r>
            <a:r>
              <a:rPr lang="ro-RO" sz="3200" dirty="0">
                <a:solidFill>
                  <a:schemeClr val="bg1"/>
                </a:solidFill>
              </a:rPr>
              <a:t>Ș</a:t>
            </a:r>
            <a:r>
              <a:rPr lang="en-US" sz="3200" dirty="0">
                <a:solidFill>
                  <a:schemeClr val="bg1"/>
                </a:solidFill>
              </a:rPr>
              <a:t>I METODOLOGIA DE EVALUARE</a:t>
            </a:r>
          </a:p>
          <a:p>
            <a:pPr algn="ctr"/>
            <a:endParaRPr lang="ro-RO" sz="32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194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09179F0-BC4E-66EF-1AC2-ACB05EF6F0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21F8C4-8D05-5F82-6F1D-F13B16D6B3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605716-0940-D936-E9AA-6745D070A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076"/>
            <a:ext cx="9144000" cy="5143500"/>
          </a:xfrm>
          <a:prstGeom prst="rect">
            <a:avLst/>
          </a:prstGeom>
        </p:spPr>
      </p:pic>
      <p:sp>
        <p:nvSpPr>
          <p:cNvPr id="5" name="Google Shape;657;p30">
            <a:extLst>
              <a:ext uri="{FF2B5EF4-FFF2-40B4-BE49-F238E27FC236}">
                <a16:creationId xmlns:a16="http://schemas.microsoft.com/office/drawing/2014/main" id="{9908AF0B-6386-E38D-1A00-AE7171E8107A}"/>
              </a:ext>
            </a:extLst>
          </p:cNvPr>
          <p:cNvSpPr/>
          <p:nvPr/>
        </p:nvSpPr>
        <p:spPr>
          <a:xfrm rot="10800000">
            <a:off x="40887" y="119295"/>
            <a:ext cx="6042696" cy="796422"/>
          </a:xfrm>
          <a:custGeom>
            <a:avLst/>
            <a:gdLst/>
            <a:ahLst/>
            <a:cxnLst/>
            <a:rect l="l" t="t" r="r" b="b"/>
            <a:pathLst>
              <a:path w="183395" h="38588" extrusionOk="0">
                <a:moveTo>
                  <a:pt x="0" y="1"/>
                </a:moveTo>
                <a:lnTo>
                  <a:pt x="0" y="18282"/>
                </a:lnTo>
                <a:lnTo>
                  <a:pt x="20146" y="38519"/>
                </a:lnTo>
                <a:lnTo>
                  <a:pt x="20215" y="38588"/>
                </a:lnTo>
                <a:lnTo>
                  <a:pt x="183395" y="38588"/>
                </a:lnTo>
                <a:lnTo>
                  <a:pt x="183395" y="38156"/>
                </a:lnTo>
                <a:lnTo>
                  <a:pt x="20385" y="38156"/>
                </a:lnTo>
                <a:lnTo>
                  <a:pt x="421" y="18101"/>
                </a:lnTo>
                <a:lnTo>
                  <a:pt x="421" y="1"/>
                </a:lnTo>
                <a:close/>
              </a:path>
            </a:pathLst>
          </a:custGeom>
          <a:solidFill>
            <a:srgbClr val="FFFA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06;p30">
            <a:extLst>
              <a:ext uri="{FF2B5EF4-FFF2-40B4-BE49-F238E27FC236}">
                <a16:creationId xmlns:a16="http://schemas.microsoft.com/office/drawing/2014/main" id="{E7036181-E4FD-AFF9-1285-7C1B45126105}"/>
              </a:ext>
            </a:extLst>
          </p:cNvPr>
          <p:cNvSpPr txBox="1">
            <a:spLocks/>
          </p:cNvSpPr>
          <p:nvPr/>
        </p:nvSpPr>
        <p:spPr>
          <a:xfrm>
            <a:off x="3513207" y="1919518"/>
            <a:ext cx="4823433" cy="2373613"/>
          </a:xfrm>
          <a:prstGeom prst="rect">
            <a:avLst/>
          </a:prstGeom>
          <a:noFill/>
          <a:ln w="3175">
            <a:solidFill>
              <a:srgbClr val="002060"/>
            </a:solidFill>
            <a:prstDash val="lgDashDotDot"/>
            <a:extLst>
              <a:ext uri="{C807C97D-BFC1-408E-A445-0C87EB9F89A2}">
                <ask:lineSketchStyleProps xmlns:ask="http://schemas.microsoft.com/office/drawing/2018/sketchyshapes" sd="715884565">
                  <a:custGeom>
                    <a:avLst/>
                    <a:gdLst>
                      <a:gd name="connsiteX0" fmla="*/ 0 w 4220472"/>
                      <a:gd name="connsiteY0" fmla="*/ 0 h 1500793"/>
                      <a:gd name="connsiteX1" fmla="*/ 443150 w 4220472"/>
                      <a:gd name="connsiteY1" fmla="*/ 0 h 1500793"/>
                      <a:gd name="connsiteX2" fmla="*/ 1055118 w 4220472"/>
                      <a:gd name="connsiteY2" fmla="*/ 0 h 1500793"/>
                      <a:gd name="connsiteX3" fmla="*/ 1540472 w 4220472"/>
                      <a:gd name="connsiteY3" fmla="*/ 0 h 1500793"/>
                      <a:gd name="connsiteX4" fmla="*/ 1983622 w 4220472"/>
                      <a:gd name="connsiteY4" fmla="*/ 0 h 1500793"/>
                      <a:gd name="connsiteX5" fmla="*/ 2511181 w 4220472"/>
                      <a:gd name="connsiteY5" fmla="*/ 0 h 1500793"/>
                      <a:gd name="connsiteX6" fmla="*/ 2996535 w 4220472"/>
                      <a:gd name="connsiteY6" fmla="*/ 0 h 1500793"/>
                      <a:gd name="connsiteX7" fmla="*/ 3397480 w 4220472"/>
                      <a:gd name="connsiteY7" fmla="*/ 0 h 1500793"/>
                      <a:gd name="connsiteX8" fmla="*/ 4220472 w 4220472"/>
                      <a:gd name="connsiteY8" fmla="*/ 0 h 1500793"/>
                      <a:gd name="connsiteX9" fmla="*/ 4220472 w 4220472"/>
                      <a:gd name="connsiteY9" fmla="*/ 530280 h 1500793"/>
                      <a:gd name="connsiteX10" fmla="*/ 4220472 w 4220472"/>
                      <a:gd name="connsiteY10" fmla="*/ 1060560 h 1500793"/>
                      <a:gd name="connsiteX11" fmla="*/ 4220472 w 4220472"/>
                      <a:gd name="connsiteY11" fmla="*/ 1500793 h 1500793"/>
                      <a:gd name="connsiteX12" fmla="*/ 3692913 w 4220472"/>
                      <a:gd name="connsiteY12" fmla="*/ 1500793 h 1500793"/>
                      <a:gd name="connsiteX13" fmla="*/ 3123149 w 4220472"/>
                      <a:gd name="connsiteY13" fmla="*/ 1500793 h 1500793"/>
                      <a:gd name="connsiteX14" fmla="*/ 2553386 w 4220472"/>
                      <a:gd name="connsiteY14" fmla="*/ 1500793 h 1500793"/>
                      <a:gd name="connsiteX15" fmla="*/ 1983622 w 4220472"/>
                      <a:gd name="connsiteY15" fmla="*/ 1500793 h 1500793"/>
                      <a:gd name="connsiteX16" fmla="*/ 1540472 w 4220472"/>
                      <a:gd name="connsiteY16" fmla="*/ 1500793 h 1500793"/>
                      <a:gd name="connsiteX17" fmla="*/ 1139527 w 4220472"/>
                      <a:gd name="connsiteY17" fmla="*/ 1500793 h 1500793"/>
                      <a:gd name="connsiteX18" fmla="*/ 654173 w 4220472"/>
                      <a:gd name="connsiteY18" fmla="*/ 1500793 h 1500793"/>
                      <a:gd name="connsiteX19" fmla="*/ 0 w 4220472"/>
                      <a:gd name="connsiteY19" fmla="*/ 1500793 h 1500793"/>
                      <a:gd name="connsiteX20" fmla="*/ 0 w 4220472"/>
                      <a:gd name="connsiteY20" fmla="*/ 1030545 h 1500793"/>
                      <a:gd name="connsiteX21" fmla="*/ 0 w 4220472"/>
                      <a:gd name="connsiteY21" fmla="*/ 500264 h 1500793"/>
                      <a:gd name="connsiteX22" fmla="*/ 0 w 4220472"/>
                      <a:gd name="connsiteY22" fmla="*/ 0 h 15007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4220472" h="1500793" extrusionOk="0">
                        <a:moveTo>
                          <a:pt x="0" y="0"/>
                        </a:moveTo>
                        <a:cubicBezTo>
                          <a:pt x="194579" y="-31356"/>
                          <a:pt x="314856" y="40759"/>
                          <a:pt x="443150" y="0"/>
                        </a:cubicBezTo>
                        <a:cubicBezTo>
                          <a:pt x="571444" y="-40759"/>
                          <a:pt x="852139" y="30657"/>
                          <a:pt x="1055118" y="0"/>
                        </a:cubicBezTo>
                        <a:cubicBezTo>
                          <a:pt x="1258097" y="-30657"/>
                          <a:pt x="1424362" y="35707"/>
                          <a:pt x="1540472" y="0"/>
                        </a:cubicBezTo>
                        <a:cubicBezTo>
                          <a:pt x="1656582" y="-35707"/>
                          <a:pt x="1806036" y="400"/>
                          <a:pt x="1983622" y="0"/>
                        </a:cubicBezTo>
                        <a:cubicBezTo>
                          <a:pt x="2161208" y="-400"/>
                          <a:pt x="2277704" y="31165"/>
                          <a:pt x="2511181" y="0"/>
                        </a:cubicBezTo>
                        <a:cubicBezTo>
                          <a:pt x="2744658" y="-31165"/>
                          <a:pt x="2777195" y="363"/>
                          <a:pt x="2996535" y="0"/>
                        </a:cubicBezTo>
                        <a:cubicBezTo>
                          <a:pt x="3215875" y="-363"/>
                          <a:pt x="3239531" y="17667"/>
                          <a:pt x="3397480" y="0"/>
                        </a:cubicBezTo>
                        <a:cubicBezTo>
                          <a:pt x="3555429" y="-17667"/>
                          <a:pt x="3926000" y="23023"/>
                          <a:pt x="4220472" y="0"/>
                        </a:cubicBezTo>
                        <a:cubicBezTo>
                          <a:pt x="4279787" y="161336"/>
                          <a:pt x="4187228" y="301861"/>
                          <a:pt x="4220472" y="530280"/>
                        </a:cubicBezTo>
                        <a:cubicBezTo>
                          <a:pt x="4253716" y="758699"/>
                          <a:pt x="4189974" y="848257"/>
                          <a:pt x="4220472" y="1060560"/>
                        </a:cubicBezTo>
                        <a:cubicBezTo>
                          <a:pt x="4250970" y="1272863"/>
                          <a:pt x="4191091" y="1351932"/>
                          <a:pt x="4220472" y="1500793"/>
                        </a:cubicBezTo>
                        <a:cubicBezTo>
                          <a:pt x="4112620" y="1549185"/>
                          <a:pt x="3816879" y="1481974"/>
                          <a:pt x="3692913" y="1500793"/>
                        </a:cubicBezTo>
                        <a:cubicBezTo>
                          <a:pt x="3568947" y="1519612"/>
                          <a:pt x="3346017" y="1486020"/>
                          <a:pt x="3123149" y="1500793"/>
                        </a:cubicBezTo>
                        <a:cubicBezTo>
                          <a:pt x="2900281" y="1515566"/>
                          <a:pt x="2678692" y="1490024"/>
                          <a:pt x="2553386" y="1500793"/>
                        </a:cubicBezTo>
                        <a:cubicBezTo>
                          <a:pt x="2428080" y="1511562"/>
                          <a:pt x="2102509" y="1494369"/>
                          <a:pt x="1983622" y="1500793"/>
                        </a:cubicBezTo>
                        <a:cubicBezTo>
                          <a:pt x="1864735" y="1507217"/>
                          <a:pt x="1673068" y="1498090"/>
                          <a:pt x="1540472" y="1500793"/>
                        </a:cubicBezTo>
                        <a:cubicBezTo>
                          <a:pt x="1407876" y="1503496"/>
                          <a:pt x="1284379" y="1469330"/>
                          <a:pt x="1139527" y="1500793"/>
                        </a:cubicBezTo>
                        <a:cubicBezTo>
                          <a:pt x="994675" y="1532256"/>
                          <a:pt x="786568" y="1446126"/>
                          <a:pt x="654173" y="1500793"/>
                        </a:cubicBezTo>
                        <a:cubicBezTo>
                          <a:pt x="521778" y="1555460"/>
                          <a:pt x="142141" y="1436565"/>
                          <a:pt x="0" y="1500793"/>
                        </a:cubicBezTo>
                        <a:cubicBezTo>
                          <a:pt x="-25961" y="1268812"/>
                          <a:pt x="38573" y="1179965"/>
                          <a:pt x="0" y="1030545"/>
                        </a:cubicBezTo>
                        <a:cubicBezTo>
                          <a:pt x="-38573" y="881125"/>
                          <a:pt x="7296" y="653645"/>
                          <a:pt x="0" y="500264"/>
                        </a:cubicBezTo>
                        <a:cubicBezTo>
                          <a:pt x="-7296" y="346883"/>
                          <a:pt x="46176" y="2289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marR="0" lvl="1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marR="0" lvl="2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marR="0" lvl="3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marR="0" lvl="4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marR="0" lvl="5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marR="0" lvl="6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marR="0" lvl="7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marR="0" lvl="8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Indicatorul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NR_SA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confirmă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conectarea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terminalului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la o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rețea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5G Standalone,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independentă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de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infrastructura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LTE</a:t>
            </a: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Nivelul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semnalului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indică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o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conexiune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stabilă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,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în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condiții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favorabile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de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propagare</a:t>
            </a:r>
            <a:r>
              <a:rPr lang="en-US" dirty="0"/>
              <a:t>.</a:t>
            </a: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ro-RO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Terminalul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operează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în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banda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 n78,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utilizată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în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cadrul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platformei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experimentale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.</a:t>
            </a: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GB" sz="1600" b="1" dirty="0">
              <a:solidFill>
                <a:schemeClr val="bg1"/>
              </a:solidFill>
              <a:latin typeface="Livvic" panose="020F0502020204030204" pitchFamily="2" charset="0"/>
            </a:endParaRPr>
          </a:p>
          <a:p>
            <a:pPr marL="0" indent="0" algn="just"/>
            <a:endParaRPr lang="en-GB" sz="1800" b="1" dirty="0">
              <a:solidFill>
                <a:schemeClr val="bg1"/>
              </a:solidFill>
              <a:latin typeface="Livvic" panose="020F0502020204030204" pitchFamily="2" charset="0"/>
            </a:endParaRPr>
          </a:p>
          <a:p>
            <a:pPr marL="285750" indent="-285750" algn="just">
              <a:buFontTx/>
              <a:buChar char="-"/>
            </a:pPr>
            <a:endParaRPr lang="en-GB" sz="1400" b="1" dirty="0">
              <a:solidFill>
                <a:schemeClr val="bg1"/>
              </a:solidFill>
            </a:endParaRPr>
          </a:p>
          <a:p>
            <a:pPr marL="285750" indent="-285750" algn="just">
              <a:buFontTx/>
              <a:buChar char="-"/>
            </a:pPr>
            <a:endParaRPr lang="en-GB" sz="1400" b="1" dirty="0">
              <a:solidFill>
                <a:schemeClr val="bg1"/>
              </a:solidFill>
            </a:endParaRPr>
          </a:p>
        </p:txBody>
      </p:sp>
      <p:sp>
        <p:nvSpPr>
          <p:cNvPr id="11" name="Google Shape;259;p36">
            <a:extLst>
              <a:ext uri="{FF2B5EF4-FFF2-40B4-BE49-F238E27FC236}">
                <a16:creationId xmlns:a16="http://schemas.microsoft.com/office/drawing/2014/main" id="{D65CDF2C-C565-6124-B83C-7E2E14094A8B}"/>
              </a:ext>
            </a:extLst>
          </p:cNvPr>
          <p:cNvSpPr txBox="1">
            <a:spLocks/>
          </p:cNvSpPr>
          <p:nvPr/>
        </p:nvSpPr>
        <p:spPr>
          <a:xfrm>
            <a:off x="2716757" y="1228345"/>
            <a:ext cx="6651875" cy="456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pPr algn="ctr"/>
            <a:r>
              <a:rPr lang="ro-RO" sz="2400" dirty="0">
                <a:solidFill>
                  <a:schemeClr val="bg1"/>
                </a:solidFill>
              </a:rPr>
              <a:t>Validarea conexiunii și parametrii</a:t>
            </a:r>
            <a:r>
              <a:rPr lang="en-US" sz="2400" dirty="0">
                <a:solidFill>
                  <a:schemeClr val="bg1"/>
                </a:solidFill>
              </a:rPr>
              <a:t> radio </a:t>
            </a:r>
            <a:endParaRPr lang="ro-RO" sz="24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B4067F-171F-4058-5083-CCE989798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102" y="254673"/>
            <a:ext cx="2165937" cy="484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093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8AFE1-57C8-FBFA-4307-75F6D6D8B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59C3B47-7A21-2E6A-536E-A7F0045BEF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C7A51D-F8ED-A807-323D-17B5A8D3F1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1B1B5B-C3CB-4102-EE10-8FD793CCD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144000" cy="5143500"/>
          </a:xfrm>
          <a:prstGeom prst="rect">
            <a:avLst/>
          </a:prstGeom>
        </p:spPr>
      </p:pic>
      <p:sp>
        <p:nvSpPr>
          <p:cNvPr id="5" name="Google Shape;657;p30">
            <a:extLst>
              <a:ext uri="{FF2B5EF4-FFF2-40B4-BE49-F238E27FC236}">
                <a16:creationId xmlns:a16="http://schemas.microsoft.com/office/drawing/2014/main" id="{F391425D-E9E8-BC1B-F86B-78895D7B1B49}"/>
              </a:ext>
            </a:extLst>
          </p:cNvPr>
          <p:cNvSpPr/>
          <p:nvPr/>
        </p:nvSpPr>
        <p:spPr>
          <a:xfrm rot="10800000">
            <a:off x="-1" y="161105"/>
            <a:ext cx="6042696" cy="796422"/>
          </a:xfrm>
          <a:custGeom>
            <a:avLst/>
            <a:gdLst/>
            <a:ahLst/>
            <a:cxnLst/>
            <a:rect l="l" t="t" r="r" b="b"/>
            <a:pathLst>
              <a:path w="183395" h="38588" extrusionOk="0">
                <a:moveTo>
                  <a:pt x="0" y="1"/>
                </a:moveTo>
                <a:lnTo>
                  <a:pt x="0" y="18282"/>
                </a:lnTo>
                <a:lnTo>
                  <a:pt x="20146" y="38519"/>
                </a:lnTo>
                <a:lnTo>
                  <a:pt x="20215" y="38588"/>
                </a:lnTo>
                <a:lnTo>
                  <a:pt x="183395" y="38588"/>
                </a:lnTo>
                <a:lnTo>
                  <a:pt x="183395" y="38156"/>
                </a:lnTo>
                <a:lnTo>
                  <a:pt x="20385" y="38156"/>
                </a:lnTo>
                <a:lnTo>
                  <a:pt x="421" y="18101"/>
                </a:lnTo>
                <a:lnTo>
                  <a:pt x="421" y="1"/>
                </a:lnTo>
                <a:close/>
              </a:path>
            </a:pathLst>
          </a:custGeom>
          <a:solidFill>
            <a:srgbClr val="FFFA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Google Shape;662;p30">
            <a:extLst>
              <a:ext uri="{FF2B5EF4-FFF2-40B4-BE49-F238E27FC236}">
                <a16:creationId xmlns:a16="http://schemas.microsoft.com/office/drawing/2014/main" id="{0E5C1F13-1880-10EA-0575-EEE24DE41A8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671760" flipH="1">
            <a:off x="-80006" y="2092671"/>
            <a:ext cx="3371849" cy="14394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06;p30">
            <a:extLst>
              <a:ext uri="{FF2B5EF4-FFF2-40B4-BE49-F238E27FC236}">
                <a16:creationId xmlns:a16="http://schemas.microsoft.com/office/drawing/2014/main" id="{4EF7B057-5C7B-70F5-76C7-936B86397B09}"/>
              </a:ext>
            </a:extLst>
          </p:cNvPr>
          <p:cNvSpPr txBox="1">
            <a:spLocks/>
          </p:cNvSpPr>
          <p:nvPr/>
        </p:nvSpPr>
        <p:spPr>
          <a:xfrm>
            <a:off x="2897118" y="1390902"/>
            <a:ext cx="5732532" cy="3269998"/>
          </a:xfrm>
          <a:prstGeom prst="rect">
            <a:avLst/>
          </a:prstGeom>
          <a:noFill/>
          <a:ln w="3175">
            <a:solidFill>
              <a:srgbClr val="002060"/>
            </a:solidFill>
            <a:prstDash val="lgDashDotDot"/>
            <a:extLst>
              <a:ext uri="{C807C97D-BFC1-408E-A445-0C87EB9F89A2}">
                <ask:lineSketchStyleProps xmlns:ask="http://schemas.microsoft.com/office/drawing/2018/sketchyshapes" sd="715884565">
                  <a:custGeom>
                    <a:avLst/>
                    <a:gdLst>
                      <a:gd name="connsiteX0" fmla="*/ 0 w 4220472"/>
                      <a:gd name="connsiteY0" fmla="*/ 0 h 1500793"/>
                      <a:gd name="connsiteX1" fmla="*/ 443150 w 4220472"/>
                      <a:gd name="connsiteY1" fmla="*/ 0 h 1500793"/>
                      <a:gd name="connsiteX2" fmla="*/ 1055118 w 4220472"/>
                      <a:gd name="connsiteY2" fmla="*/ 0 h 1500793"/>
                      <a:gd name="connsiteX3" fmla="*/ 1540472 w 4220472"/>
                      <a:gd name="connsiteY3" fmla="*/ 0 h 1500793"/>
                      <a:gd name="connsiteX4" fmla="*/ 1983622 w 4220472"/>
                      <a:gd name="connsiteY4" fmla="*/ 0 h 1500793"/>
                      <a:gd name="connsiteX5" fmla="*/ 2511181 w 4220472"/>
                      <a:gd name="connsiteY5" fmla="*/ 0 h 1500793"/>
                      <a:gd name="connsiteX6" fmla="*/ 2996535 w 4220472"/>
                      <a:gd name="connsiteY6" fmla="*/ 0 h 1500793"/>
                      <a:gd name="connsiteX7" fmla="*/ 3397480 w 4220472"/>
                      <a:gd name="connsiteY7" fmla="*/ 0 h 1500793"/>
                      <a:gd name="connsiteX8" fmla="*/ 4220472 w 4220472"/>
                      <a:gd name="connsiteY8" fmla="*/ 0 h 1500793"/>
                      <a:gd name="connsiteX9" fmla="*/ 4220472 w 4220472"/>
                      <a:gd name="connsiteY9" fmla="*/ 530280 h 1500793"/>
                      <a:gd name="connsiteX10" fmla="*/ 4220472 w 4220472"/>
                      <a:gd name="connsiteY10" fmla="*/ 1060560 h 1500793"/>
                      <a:gd name="connsiteX11" fmla="*/ 4220472 w 4220472"/>
                      <a:gd name="connsiteY11" fmla="*/ 1500793 h 1500793"/>
                      <a:gd name="connsiteX12" fmla="*/ 3692913 w 4220472"/>
                      <a:gd name="connsiteY12" fmla="*/ 1500793 h 1500793"/>
                      <a:gd name="connsiteX13" fmla="*/ 3123149 w 4220472"/>
                      <a:gd name="connsiteY13" fmla="*/ 1500793 h 1500793"/>
                      <a:gd name="connsiteX14" fmla="*/ 2553386 w 4220472"/>
                      <a:gd name="connsiteY14" fmla="*/ 1500793 h 1500793"/>
                      <a:gd name="connsiteX15" fmla="*/ 1983622 w 4220472"/>
                      <a:gd name="connsiteY15" fmla="*/ 1500793 h 1500793"/>
                      <a:gd name="connsiteX16" fmla="*/ 1540472 w 4220472"/>
                      <a:gd name="connsiteY16" fmla="*/ 1500793 h 1500793"/>
                      <a:gd name="connsiteX17" fmla="*/ 1139527 w 4220472"/>
                      <a:gd name="connsiteY17" fmla="*/ 1500793 h 1500793"/>
                      <a:gd name="connsiteX18" fmla="*/ 654173 w 4220472"/>
                      <a:gd name="connsiteY18" fmla="*/ 1500793 h 1500793"/>
                      <a:gd name="connsiteX19" fmla="*/ 0 w 4220472"/>
                      <a:gd name="connsiteY19" fmla="*/ 1500793 h 1500793"/>
                      <a:gd name="connsiteX20" fmla="*/ 0 w 4220472"/>
                      <a:gd name="connsiteY20" fmla="*/ 1030545 h 1500793"/>
                      <a:gd name="connsiteX21" fmla="*/ 0 w 4220472"/>
                      <a:gd name="connsiteY21" fmla="*/ 500264 h 1500793"/>
                      <a:gd name="connsiteX22" fmla="*/ 0 w 4220472"/>
                      <a:gd name="connsiteY22" fmla="*/ 0 h 15007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4220472" h="1500793" extrusionOk="0">
                        <a:moveTo>
                          <a:pt x="0" y="0"/>
                        </a:moveTo>
                        <a:cubicBezTo>
                          <a:pt x="194579" y="-31356"/>
                          <a:pt x="314856" y="40759"/>
                          <a:pt x="443150" y="0"/>
                        </a:cubicBezTo>
                        <a:cubicBezTo>
                          <a:pt x="571444" y="-40759"/>
                          <a:pt x="852139" y="30657"/>
                          <a:pt x="1055118" y="0"/>
                        </a:cubicBezTo>
                        <a:cubicBezTo>
                          <a:pt x="1258097" y="-30657"/>
                          <a:pt x="1424362" y="35707"/>
                          <a:pt x="1540472" y="0"/>
                        </a:cubicBezTo>
                        <a:cubicBezTo>
                          <a:pt x="1656582" y="-35707"/>
                          <a:pt x="1806036" y="400"/>
                          <a:pt x="1983622" y="0"/>
                        </a:cubicBezTo>
                        <a:cubicBezTo>
                          <a:pt x="2161208" y="-400"/>
                          <a:pt x="2277704" y="31165"/>
                          <a:pt x="2511181" y="0"/>
                        </a:cubicBezTo>
                        <a:cubicBezTo>
                          <a:pt x="2744658" y="-31165"/>
                          <a:pt x="2777195" y="363"/>
                          <a:pt x="2996535" y="0"/>
                        </a:cubicBezTo>
                        <a:cubicBezTo>
                          <a:pt x="3215875" y="-363"/>
                          <a:pt x="3239531" y="17667"/>
                          <a:pt x="3397480" y="0"/>
                        </a:cubicBezTo>
                        <a:cubicBezTo>
                          <a:pt x="3555429" y="-17667"/>
                          <a:pt x="3926000" y="23023"/>
                          <a:pt x="4220472" y="0"/>
                        </a:cubicBezTo>
                        <a:cubicBezTo>
                          <a:pt x="4279787" y="161336"/>
                          <a:pt x="4187228" y="301861"/>
                          <a:pt x="4220472" y="530280"/>
                        </a:cubicBezTo>
                        <a:cubicBezTo>
                          <a:pt x="4253716" y="758699"/>
                          <a:pt x="4189974" y="848257"/>
                          <a:pt x="4220472" y="1060560"/>
                        </a:cubicBezTo>
                        <a:cubicBezTo>
                          <a:pt x="4250970" y="1272863"/>
                          <a:pt x="4191091" y="1351932"/>
                          <a:pt x="4220472" y="1500793"/>
                        </a:cubicBezTo>
                        <a:cubicBezTo>
                          <a:pt x="4112620" y="1549185"/>
                          <a:pt x="3816879" y="1481974"/>
                          <a:pt x="3692913" y="1500793"/>
                        </a:cubicBezTo>
                        <a:cubicBezTo>
                          <a:pt x="3568947" y="1519612"/>
                          <a:pt x="3346017" y="1486020"/>
                          <a:pt x="3123149" y="1500793"/>
                        </a:cubicBezTo>
                        <a:cubicBezTo>
                          <a:pt x="2900281" y="1515566"/>
                          <a:pt x="2678692" y="1490024"/>
                          <a:pt x="2553386" y="1500793"/>
                        </a:cubicBezTo>
                        <a:cubicBezTo>
                          <a:pt x="2428080" y="1511562"/>
                          <a:pt x="2102509" y="1494369"/>
                          <a:pt x="1983622" y="1500793"/>
                        </a:cubicBezTo>
                        <a:cubicBezTo>
                          <a:pt x="1864735" y="1507217"/>
                          <a:pt x="1673068" y="1498090"/>
                          <a:pt x="1540472" y="1500793"/>
                        </a:cubicBezTo>
                        <a:cubicBezTo>
                          <a:pt x="1407876" y="1503496"/>
                          <a:pt x="1284379" y="1469330"/>
                          <a:pt x="1139527" y="1500793"/>
                        </a:cubicBezTo>
                        <a:cubicBezTo>
                          <a:pt x="994675" y="1532256"/>
                          <a:pt x="786568" y="1446126"/>
                          <a:pt x="654173" y="1500793"/>
                        </a:cubicBezTo>
                        <a:cubicBezTo>
                          <a:pt x="521778" y="1555460"/>
                          <a:pt x="142141" y="1436565"/>
                          <a:pt x="0" y="1500793"/>
                        </a:cubicBezTo>
                        <a:cubicBezTo>
                          <a:pt x="-25961" y="1268812"/>
                          <a:pt x="38573" y="1179965"/>
                          <a:pt x="0" y="1030545"/>
                        </a:cubicBezTo>
                        <a:cubicBezTo>
                          <a:pt x="-38573" y="881125"/>
                          <a:pt x="7296" y="653645"/>
                          <a:pt x="0" y="500264"/>
                        </a:cubicBezTo>
                        <a:cubicBezTo>
                          <a:pt x="-7296" y="346883"/>
                          <a:pt x="46176" y="2289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marR="0" lvl="1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marR="0" lvl="2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marR="0" lvl="3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marR="0" lvl="4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marR="0" lvl="5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marR="0" lvl="6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marR="0" lvl="7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marR="0" lvl="8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Testarea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a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fost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realizată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într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-un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scenariu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de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laborator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,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utilizând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un terminal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compatibil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5G SA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și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infrastructura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Open RAN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implementată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.</a:t>
            </a: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Au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fost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ro-RO" sz="1600" b="1" dirty="0">
                <a:solidFill>
                  <a:schemeClr val="bg1"/>
                </a:solidFill>
                <a:latin typeface="Livvic" pitchFamily="2" charset="0"/>
              </a:rPr>
              <a:t>evaluați indicatori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relevanți</a:t>
            </a:r>
            <a:r>
              <a:rPr lang="ro-RO" sz="1600" b="1" dirty="0">
                <a:solidFill>
                  <a:schemeClr val="bg1"/>
                </a:solidFill>
                <a:latin typeface="Livvic" pitchFamily="2" charset="0"/>
              </a:rPr>
              <a:t> de performanță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, precum </a:t>
            </a:r>
            <a:r>
              <a:rPr lang="ro-RO" sz="1600" b="1" dirty="0">
                <a:solidFill>
                  <a:schemeClr val="bg1"/>
                </a:solidFill>
                <a:latin typeface="Livvic" pitchFamily="2" charset="0"/>
              </a:rPr>
              <a:t> debitul pe 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uplink, downlink,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latenta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sau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ji</a:t>
            </a:r>
            <a:r>
              <a:rPr lang="ro-RO" sz="1600" b="1" dirty="0">
                <a:solidFill>
                  <a:schemeClr val="bg1"/>
                </a:solidFill>
                <a:latin typeface="Livvic" pitchFamily="2" charset="0"/>
              </a:rPr>
              <a:t>t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ter.</a:t>
            </a: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Performanța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traficului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a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fost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evaluată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prin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teste de tip 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Speedtest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 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și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 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nPerf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,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pentru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validarea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debitului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și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a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stabilității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conexiunii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.</a:t>
            </a: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ro-RO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GB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FontTx/>
              <a:buChar char="-"/>
            </a:pPr>
            <a:endParaRPr lang="en-GB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341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01179-7DB6-4D85-7D08-808C1BAE8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34758-FC15-6733-3076-28C7D9A677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FC697E-C90B-9334-7239-5B41C3AE60D0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5D6B5C-FA45-DF61-213C-7C600FF74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Google Shape;248;p35">
            <a:extLst>
              <a:ext uri="{FF2B5EF4-FFF2-40B4-BE49-F238E27FC236}">
                <a16:creationId xmlns:a16="http://schemas.microsoft.com/office/drawing/2014/main" id="{45F3B5B5-9DF0-C253-DF34-E2D04BD9468F}"/>
              </a:ext>
            </a:extLst>
          </p:cNvPr>
          <p:cNvSpPr txBox="1">
            <a:spLocks/>
          </p:cNvSpPr>
          <p:nvPr/>
        </p:nvSpPr>
        <p:spPr>
          <a:xfrm>
            <a:off x="403860" y="4352836"/>
            <a:ext cx="124206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ivvic"/>
              <a:buNone/>
              <a:defRPr sz="6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" dirty="0">
                <a:solidFill>
                  <a:schemeClr val="lt1"/>
                </a:solidFill>
              </a:rPr>
              <a:t>05</a:t>
            </a:r>
          </a:p>
        </p:txBody>
      </p:sp>
      <p:sp>
        <p:nvSpPr>
          <p:cNvPr id="7" name="Google Shape;247;p35">
            <a:extLst>
              <a:ext uri="{FF2B5EF4-FFF2-40B4-BE49-F238E27FC236}">
                <a16:creationId xmlns:a16="http://schemas.microsoft.com/office/drawing/2014/main" id="{5C14C5E0-3EBC-4488-47BE-96BD47442BBF}"/>
              </a:ext>
            </a:extLst>
          </p:cNvPr>
          <p:cNvSpPr txBox="1">
            <a:spLocks/>
          </p:cNvSpPr>
          <p:nvPr/>
        </p:nvSpPr>
        <p:spPr>
          <a:xfrm>
            <a:off x="-510591" y="1132272"/>
            <a:ext cx="5715051" cy="109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pPr algn="ctr"/>
            <a:r>
              <a:rPr lang="en-US" sz="3200" dirty="0">
                <a:solidFill>
                  <a:schemeClr val="lt1"/>
                </a:solidFill>
              </a:rPr>
              <a:t>REZULTATE EXPERIMENTALE</a:t>
            </a:r>
            <a:endParaRPr lang="ro-RO" sz="32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067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A6211-B6CD-9805-E76E-464F5AA07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17F0550-F9F4-CF73-4C73-64D95F1B31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D0BA40-F05D-D8EA-40FE-675B080BE0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4C2C92-21B6-46E9-77A6-591CF7A40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0"/>
            <a:ext cx="9144000" cy="5143500"/>
          </a:xfrm>
          <a:prstGeom prst="rect">
            <a:avLst/>
          </a:prstGeom>
        </p:spPr>
      </p:pic>
      <p:sp>
        <p:nvSpPr>
          <p:cNvPr id="5" name="Google Shape;657;p30">
            <a:extLst>
              <a:ext uri="{FF2B5EF4-FFF2-40B4-BE49-F238E27FC236}">
                <a16:creationId xmlns:a16="http://schemas.microsoft.com/office/drawing/2014/main" id="{BCA76588-0518-3530-9615-3955731B054C}"/>
              </a:ext>
            </a:extLst>
          </p:cNvPr>
          <p:cNvSpPr/>
          <p:nvPr/>
        </p:nvSpPr>
        <p:spPr>
          <a:xfrm rot="10800000">
            <a:off x="-2" y="182485"/>
            <a:ext cx="4931153" cy="796422"/>
          </a:xfrm>
          <a:custGeom>
            <a:avLst/>
            <a:gdLst/>
            <a:ahLst/>
            <a:cxnLst/>
            <a:rect l="l" t="t" r="r" b="b"/>
            <a:pathLst>
              <a:path w="183395" h="38588" extrusionOk="0">
                <a:moveTo>
                  <a:pt x="0" y="1"/>
                </a:moveTo>
                <a:lnTo>
                  <a:pt x="0" y="18282"/>
                </a:lnTo>
                <a:lnTo>
                  <a:pt x="20146" y="38519"/>
                </a:lnTo>
                <a:lnTo>
                  <a:pt x="20215" y="38588"/>
                </a:lnTo>
                <a:lnTo>
                  <a:pt x="183395" y="38588"/>
                </a:lnTo>
                <a:lnTo>
                  <a:pt x="183395" y="38156"/>
                </a:lnTo>
                <a:lnTo>
                  <a:pt x="20385" y="38156"/>
                </a:lnTo>
                <a:lnTo>
                  <a:pt x="421" y="18101"/>
                </a:lnTo>
                <a:lnTo>
                  <a:pt x="421" y="1"/>
                </a:lnTo>
                <a:close/>
              </a:path>
            </a:pathLst>
          </a:custGeom>
          <a:solidFill>
            <a:srgbClr val="FFFA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59;p36">
            <a:extLst>
              <a:ext uri="{FF2B5EF4-FFF2-40B4-BE49-F238E27FC236}">
                <a16:creationId xmlns:a16="http://schemas.microsoft.com/office/drawing/2014/main" id="{16E733D7-827D-24B9-39E1-0D1DC59C1EB3}"/>
              </a:ext>
            </a:extLst>
          </p:cNvPr>
          <p:cNvSpPr txBox="1">
            <a:spLocks/>
          </p:cNvSpPr>
          <p:nvPr/>
        </p:nvSpPr>
        <p:spPr>
          <a:xfrm>
            <a:off x="2404919" y="1117001"/>
            <a:ext cx="4931153" cy="456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pPr algn="ctr"/>
            <a:r>
              <a:rPr lang="ro-RO" sz="2400" dirty="0">
                <a:solidFill>
                  <a:schemeClr val="bg1"/>
                </a:solidFill>
              </a:rPr>
              <a:t>Analiza performanțelor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0DCE91-124A-E11A-40FF-F51B996EF016}"/>
              </a:ext>
            </a:extLst>
          </p:cNvPr>
          <p:cNvSpPr txBox="1"/>
          <p:nvPr/>
        </p:nvSpPr>
        <p:spPr>
          <a:xfrm>
            <a:off x="533935" y="4291108"/>
            <a:ext cx="34483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b="1" dirty="0">
                <a:solidFill>
                  <a:schemeClr val="bg1"/>
                </a:solidFill>
                <a:latin typeface="Livvic" pitchFamily="2" charset="0"/>
              </a:rPr>
              <a:t>Tabel cu rezultate experimentale</a:t>
            </a:r>
            <a:endParaRPr lang="en-US" sz="1600" b="1" dirty="0">
              <a:solidFill>
                <a:schemeClr val="bg1"/>
              </a:solidFill>
              <a:latin typeface="Livvic" pitchFamily="2" charset="0"/>
            </a:endParaRPr>
          </a:p>
        </p:txBody>
      </p:sp>
      <p:sp>
        <p:nvSpPr>
          <p:cNvPr id="7" name="Google Shape;206;p30">
            <a:extLst>
              <a:ext uri="{FF2B5EF4-FFF2-40B4-BE49-F238E27FC236}">
                <a16:creationId xmlns:a16="http://schemas.microsoft.com/office/drawing/2014/main" id="{D20336C6-B6D0-36FA-BF78-F61A9713AF31}"/>
              </a:ext>
            </a:extLst>
          </p:cNvPr>
          <p:cNvSpPr txBox="1">
            <a:spLocks/>
          </p:cNvSpPr>
          <p:nvPr/>
        </p:nvSpPr>
        <p:spPr>
          <a:xfrm>
            <a:off x="4986425" y="1767673"/>
            <a:ext cx="3930162" cy="2677303"/>
          </a:xfrm>
          <a:prstGeom prst="rect">
            <a:avLst/>
          </a:prstGeom>
          <a:noFill/>
          <a:ln w="3175">
            <a:solidFill>
              <a:srgbClr val="002060"/>
            </a:solidFill>
            <a:prstDash val="lgDashDotDot"/>
            <a:extLst>
              <a:ext uri="{C807C97D-BFC1-408E-A445-0C87EB9F89A2}">
                <ask:lineSketchStyleProps xmlns:ask="http://schemas.microsoft.com/office/drawing/2018/sketchyshapes" sd="715884565">
                  <a:custGeom>
                    <a:avLst/>
                    <a:gdLst>
                      <a:gd name="connsiteX0" fmla="*/ 0 w 4220472"/>
                      <a:gd name="connsiteY0" fmla="*/ 0 h 1500793"/>
                      <a:gd name="connsiteX1" fmla="*/ 443150 w 4220472"/>
                      <a:gd name="connsiteY1" fmla="*/ 0 h 1500793"/>
                      <a:gd name="connsiteX2" fmla="*/ 1055118 w 4220472"/>
                      <a:gd name="connsiteY2" fmla="*/ 0 h 1500793"/>
                      <a:gd name="connsiteX3" fmla="*/ 1540472 w 4220472"/>
                      <a:gd name="connsiteY3" fmla="*/ 0 h 1500793"/>
                      <a:gd name="connsiteX4" fmla="*/ 1983622 w 4220472"/>
                      <a:gd name="connsiteY4" fmla="*/ 0 h 1500793"/>
                      <a:gd name="connsiteX5" fmla="*/ 2511181 w 4220472"/>
                      <a:gd name="connsiteY5" fmla="*/ 0 h 1500793"/>
                      <a:gd name="connsiteX6" fmla="*/ 2996535 w 4220472"/>
                      <a:gd name="connsiteY6" fmla="*/ 0 h 1500793"/>
                      <a:gd name="connsiteX7" fmla="*/ 3397480 w 4220472"/>
                      <a:gd name="connsiteY7" fmla="*/ 0 h 1500793"/>
                      <a:gd name="connsiteX8" fmla="*/ 4220472 w 4220472"/>
                      <a:gd name="connsiteY8" fmla="*/ 0 h 1500793"/>
                      <a:gd name="connsiteX9" fmla="*/ 4220472 w 4220472"/>
                      <a:gd name="connsiteY9" fmla="*/ 530280 h 1500793"/>
                      <a:gd name="connsiteX10" fmla="*/ 4220472 w 4220472"/>
                      <a:gd name="connsiteY10" fmla="*/ 1060560 h 1500793"/>
                      <a:gd name="connsiteX11" fmla="*/ 4220472 w 4220472"/>
                      <a:gd name="connsiteY11" fmla="*/ 1500793 h 1500793"/>
                      <a:gd name="connsiteX12" fmla="*/ 3692913 w 4220472"/>
                      <a:gd name="connsiteY12" fmla="*/ 1500793 h 1500793"/>
                      <a:gd name="connsiteX13" fmla="*/ 3123149 w 4220472"/>
                      <a:gd name="connsiteY13" fmla="*/ 1500793 h 1500793"/>
                      <a:gd name="connsiteX14" fmla="*/ 2553386 w 4220472"/>
                      <a:gd name="connsiteY14" fmla="*/ 1500793 h 1500793"/>
                      <a:gd name="connsiteX15" fmla="*/ 1983622 w 4220472"/>
                      <a:gd name="connsiteY15" fmla="*/ 1500793 h 1500793"/>
                      <a:gd name="connsiteX16" fmla="*/ 1540472 w 4220472"/>
                      <a:gd name="connsiteY16" fmla="*/ 1500793 h 1500793"/>
                      <a:gd name="connsiteX17" fmla="*/ 1139527 w 4220472"/>
                      <a:gd name="connsiteY17" fmla="*/ 1500793 h 1500793"/>
                      <a:gd name="connsiteX18" fmla="*/ 654173 w 4220472"/>
                      <a:gd name="connsiteY18" fmla="*/ 1500793 h 1500793"/>
                      <a:gd name="connsiteX19" fmla="*/ 0 w 4220472"/>
                      <a:gd name="connsiteY19" fmla="*/ 1500793 h 1500793"/>
                      <a:gd name="connsiteX20" fmla="*/ 0 w 4220472"/>
                      <a:gd name="connsiteY20" fmla="*/ 1030545 h 1500793"/>
                      <a:gd name="connsiteX21" fmla="*/ 0 w 4220472"/>
                      <a:gd name="connsiteY21" fmla="*/ 500264 h 1500793"/>
                      <a:gd name="connsiteX22" fmla="*/ 0 w 4220472"/>
                      <a:gd name="connsiteY22" fmla="*/ 0 h 15007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4220472" h="1500793" extrusionOk="0">
                        <a:moveTo>
                          <a:pt x="0" y="0"/>
                        </a:moveTo>
                        <a:cubicBezTo>
                          <a:pt x="194579" y="-31356"/>
                          <a:pt x="314856" y="40759"/>
                          <a:pt x="443150" y="0"/>
                        </a:cubicBezTo>
                        <a:cubicBezTo>
                          <a:pt x="571444" y="-40759"/>
                          <a:pt x="852139" y="30657"/>
                          <a:pt x="1055118" y="0"/>
                        </a:cubicBezTo>
                        <a:cubicBezTo>
                          <a:pt x="1258097" y="-30657"/>
                          <a:pt x="1424362" y="35707"/>
                          <a:pt x="1540472" y="0"/>
                        </a:cubicBezTo>
                        <a:cubicBezTo>
                          <a:pt x="1656582" y="-35707"/>
                          <a:pt x="1806036" y="400"/>
                          <a:pt x="1983622" y="0"/>
                        </a:cubicBezTo>
                        <a:cubicBezTo>
                          <a:pt x="2161208" y="-400"/>
                          <a:pt x="2277704" y="31165"/>
                          <a:pt x="2511181" y="0"/>
                        </a:cubicBezTo>
                        <a:cubicBezTo>
                          <a:pt x="2744658" y="-31165"/>
                          <a:pt x="2777195" y="363"/>
                          <a:pt x="2996535" y="0"/>
                        </a:cubicBezTo>
                        <a:cubicBezTo>
                          <a:pt x="3215875" y="-363"/>
                          <a:pt x="3239531" y="17667"/>
                          <a:pt x="3397480" y="0"/>
                        </a:cubicBezTo>
                        <a:cubicBezTo>
                          <a:pt x="3555429" y="-17667"/>
                          <a:pt x="3926000" y="23023"/>
                          <a:pt x="4220472" y="0"/>
                        </a:cubicBezTo>
                        <a:cubicBezTo>
                          <a:pt x="4279787" y="161336"/>
                          <a:pt x="4187228" y="301861"/>
                          <a:pt x="4220472" y="530280"/>
                        </a:cubicBezTo>
                        <a:cubicBezTo>
                          <a:pt x="4253716" y="758699"/>
                          <a:pt x="4189974" y="848257"/>
                          <a:pt x="4220472" y="1060560"/>
                        </a:cubicBezTo>
                        <a:cubicBezTo>
                          <a:pt x="4250970" y="1272863"/>
                          <a:pt x="4191091" y="1351932"/>
                          <a:pt x="4220472" y="1500793"/>
                        </a:cubicBezTo>
                        <a:cubicBezTo>
                          <a:pt x="4112620" y="1549185"/>
                          <a:pt x="3816879" y="1481974"/>
                          <a:pt x="3692913" y="1500793"/>
                        </a:cubicBezTo>
                        <a:cubicBezTo>
                          <a:pt x="3568947" y="1519612"/>
                          <a:pt x="3346017" y="1486020"/>
                          <a:pt x="3123149" y="1500793"/>
                        </a:cubicBezTo>
                        <a:cubicBezTo>
                          <a:pt x="2900281" y="1515566"/>
                          <a:pt x="2678692" y="1490024"/>
                          <a:pt x="2553386" y="1500793"/>
                        </a:cubicBezTo>
                        <a:cubicBezTo>
                          <a:pt x="2428080" y="1511562"/>
                          <a:pt x="2102509" y="1494369"/>
                          <a:pt x="1983622" y="1500793"/>
                        </a:cubicBezTo>
                        <a:cubicBezTo>
                          <a:pt x="1864735" y="1507217"/>
                          <a:pt x="1673068" y="1498090"/>
                          <a:pt x="1540472" y="1500793"/>
                        </a:cubicBezTo>
                        <a:cubicBezTo>
                          <a:pt x="1407876" y="1503496"/>
                          <a:pt x="1284379" y="1469330"/>
                          <a:pt x="1139527" y="1500793"/>
                        </a:cubicBezTo>
                        <a:cubicBezTo>
                          <a:pt x="994675" y="1532256"/>
                          <a:pt x="786568" y="1446126"/>
                          <a:pt x="654173" y="1500793"/>
                        </a:cubicBezTo>
                        <a:cubicBezTo>
                          <a:pt x="521778" y="1555460"/>
                          <a:pt x="142141" y="1436565"/>
                          <a:pt x="0" y="1500793"/>
                        </a:cubicBezTo>
                        <a:cubicBezTo>
                          <a:pt x="-25961" y="1268812"/>
                          <a:pt x="38573" y="1179965"/>
                          <a:pt x="0" y="1030545"/>
                        </a:cubicBezTo>
                        <a:cubicBezTo>
                          <a:pt x="-38573" y="881125"/>
                          <a:pt x="7296" y="653645"/>
                          <a:pt x="0" y="500264"/>
                        </a:cubicBezTo>
                        <a:cubicBezTo>
                          <a:pt x="-7296" y="346883"/>
                          <a:pt x="46176" y="2289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marR="0" lvl="1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marR="0" lvl="2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marR="0" lvl="3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marR="0" lvl="4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marR="0" lvl="5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marR="0" lvl="6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marR="0" lvl="7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marR="0" lvl="8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Au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fost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realizate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11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runde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de test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pentru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evaluarea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performanței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conexiunii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5G SA.</a:t>
            </a:r>
            <a:endParaRPr lang="ro-RO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ro-RO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Latența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și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jitter-ul s-au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menținut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la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valori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reduse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și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constante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pe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parcursul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testelor</a:t>
            </a:r>
            <a:r>
              <a:rPr lang="ro-RO" sz="1600" b="1" dirty="0">
                <a:solidFill>
                  <a:schemeClr val="bg1"/>
                </a:solidFill>
                <a:latin typeface="Livvic" pitchFamily="2" charset="0"/>
              </a:rPr>
              <a:t>.</a:t>
            </a:r>
            <a:endParaRPr lang="en-US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ro-RO" sz="1600" b="1" dirty="0">
                <a:solidFill>
                  <a:schemeClr val="bg1"/>
                </a:solidFill>
                <a:latin typeface="Livvic" pitchFamily="2" charset="0"/>
              </a:rPr>
              <a:t>Testele 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au </a:t>
            </a:r>
            <a:r>
              <a:rPr lang="ro-RO" sz="1600" b="1" dirty="0">
                <a:solidFill>
                  <a:schemeClr val="bg1"/>
                </a:solidFill>
                <a:latin typeface="Livvic" pitchFamily="2" charset="0"/>
              </a:rPr>
              <a:t>indicat valori stabile pe toate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cele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11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sesiuni</a:t>
            </a:r>
            <a:r>
              <a:rPr lang="ro-RO" sz="1600" b="1" dirty="0">
                <a:solidFill>
                  <a:schemeClr val="bg1"/>
                </a:solidFill>
                <a:latin typeface="Livvic" pitchFamily="2" charset="0"/>
              </a:rPr>
              <a:t>.</a:t>
            </a:r>
          </a:p>
          <a:p>
            <a:pPr marL="0" indent="0" algn="just">
              <a:buClr>
                <a:schemeClr val="bg1"/>
              </a:buClr>
              <a:buSzPct val="100000"/>
            </a:pPr>
            <a:endParaRPr lang="ro-RO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GB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FontTx/>
              <a:buChar char="-"/>
            </a:pPr>
            <a:endParaRPr lang="en-GB" sz="1400" b="1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A609B17-7CC1-A68E-DA7A-8545AC043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27" y="1786951"/>
            <a:ext cx="4754569" cy="232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141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>
          <a:extLst>
            <a:ext uri="{FF2B5EF4-FFF2-40B4-BE49-F238E27FC236}">
              <a16:creationId xmlns:a16="http://schemas.microsoft.com/office/drawing/2014/main" id="{67349FCE-27FD-71D5-DB11-BA88B18B7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BA1EE13-BA3C-DA47-786D-8BB93EF17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102"/>
            <a:ext cx="9144000" cy="5213602"/>
          </a:xfrm>
          <a:prstGeom prst="rect">
            <a:avLst/>
          </a:prstGeom>
        </p:spPr>
      </p:pic>
      <p:pic>
        <p:nvPicPr>
          <p:cNvPr id="8" name="Google Shape;1750;p43">
            <a:extLst>
              <a:ext uri="{FF2B5EF4-FFF2-40B4-BE49-F238E27FC236}">
                <a16:creationId xmlns:a16="http://schemas.microsoft.com/office/drawing/2014/main" id="{FBC2A70E-2485-693E-FAD6-F9737EF3B72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6428" r="19722"/>
          <a:stretch/>
        </p:blipFill>
        <p:spPr>
          <a:xfrm rot="15339422">
            <a:off x="6428998" y="1993296"/>
            <a:ext cx="3147804" cy="276085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06;p30">
            <a:extLst>
              <a:ext uri="{FF2B5EF4-FFF2-40B4-BE49-F238E27FC236}">
                <a16:creationId xmlns:a16="http://schemas.microsoft.com/office/drawing/2014/main" id="{D51EF62F-B170-260B-DD64-F2F78A6519E7}"/>
              </a:ext>
            </a:extLst>
          </p:cNvPr>
          <p:cNvSpPr txBox="1">
            <a:spLocks/>
          </p:cNvSpPr>
          <p:nvPr/>
        </p:nvSpPr>
        <p:spPr>
          <a:xfrm>
            <a:off x="3106044" y="947407"/>
            <a:ext cx="3916548" cy="3248685"/>
          </a:xfrm>
          <a:prstGeom prst="rect">
            <a:avLst/>
          </a:prstGeom>
          <a:noFill/>
          <a:ln w="3175">
            <a:solidFill>
              <a:srgbClr val="002060"/>
            </a:solidFill>
            <a:prstDash val="lgDashDotDot"/>
            <a:extLst>
              <a:ext uri="{C807C97D-BFC1-408E-A445-0C87EB9F89A2}">
                <ask:lineSketchStyleProps xmlns:ask="http://schemas.microsoft.com/office/drawing/2018/sketchyshapes" sd="715884565">
                  <a:custGeom>
                    <a:avLst/>
                    <a:gdLst>
                      <a:gd name="connsiteX0" fmla="*/ 0 w 4220472"/>
                      <a:gd name="connsiteY0" fmla="*/ 0 h 1500793"/>
                      <a:gd name="connsiteX1" fmla="*/ 443150 w 4220472"/>
                      <a:gd name="connsiteY1" fmla="*/ 0 h 1500793"/>
                      <a:gd name="connsiteX2" fmla="*/ 1055118 w 4220472"/>
                      <a:gd name="connsiteY2" fmla="*/ 0 h 1500793"/>
                      <a:gd name="connsiteX3" fmla="*/ 1540472 w 4220472"/>
                      <a:gd name="connsiteY3" fmla="*/ 0 h 1500793"/>
                      <a:gd name="connsiteX4" fmla="*/ 1983622 w 4220472"/>
                      <a:gd name="connsiteY4" fmla="*/ 0 h 1500793"/>
                      <a:gd name="connsiteX5" fmla="*/ 2511181 w 4220472"/>
                      <a:gd name="connsiteY5" fmla="*/ 0 h 1500793"/>
                      <a:gd name="connsiteX6" fmla="*/ 2996535 w 4220472"/>
                      <a:gd name="connsiteY6" fmla="*/ 0 h 1500793"/>
                      <a:gd name="connsiteX7" fmla="*/ 3397480 w 4220472"/>
                      <a:gd name="connsiteY7" fmla="*/ 0 h 1500793"/>
                      <a:gd name="connsiteX8" fmla="*/ 4220472 w 4220472"/>
                      <a:gd name="connsiteY8" fmla="*/ 0 h 1500793"/>
                      <a:gd name="connsiteX9" fmla="*/ 4220472 w 4220472"/>
                      <a:gd name="connsiteY9" fmla="*/ 530280 h 1500793"/>
                      <a:gd name="connsiteX10" fmla="*/ 4220472 w 4220472"/>
                      <a:gd name="connsiteY10" fmla="*/ 1060560 h 1500793"/>
                      <a:gd name="connsiteX11" fmla="*/ 4220472 w 4220472"/>
                      <a:gd name="connsiteY11" fmla="*/ 1500793 h 1500793"/>
                      <a:gd name="connsiteX12" fmla="*/ 3692913 w 4220472"/>
                      <a:gd name="connsiteY12" fmla="*/ 1500793 h 1500793"/>
                      <a:gd name="connsiteX13" fmla="*/ 3123149 w 4220472"/>
                      <a:gd name="connsiteY13" fmla="*/ 1500793 h 1500793"/>
                      <a:gd name="connsiteX14" fmla="*/ 2553386 w 4220472"/>
                      <a:gd name="connsiteY14" fmla="*/ 1500793 h 1500793"/>
                      <a:gd name="connsiteX15" fmla="*/ 1983622 w 4220472"/>
                      <a:gd name="connsiteY15" fmla="*/ 1500793 h 1500793"/>
                      <a:gd name="connsiteX16" fmla="*/ 1540472 w 4220472"/>
                      <a:gd name="connsiteY16" fmla="*/ 1500793 h 1500793"/>
                      <a:gd name="connsiteX17" fmla="*/ 1139527 w 4220472"/>
                      <a:gd name="connsiteY17" fmla="*/ 1500793 h 1500793"/>
                      <a:gd name="connsiteX18" fmla="*/ 654173 w 4220472"/>
                      <a:gd name="connsiteY18" fmla="*/ 1500793 h 1500793"/>
                      <a:gd name="connsiteX19" fmla="*/ 0 w 4220472"/>
                      <a:gd name="connsiteY19" fmla="*/ 1500793 h 1500793"/>
                      <a:gd name="connsiteX20" fmla="*/ 0 w 4220472"/>
                      <a:gd name="connsiteY20" fmla="*/ 1030545 h 1500793"/>
                      <a:gd name="connsiteX21" fmla="*/ 0 w 4220472"/>
                      <a:gd name="connsiteY21" fmla="*/ 500264 h 1500793"/>
                      <a:gd name="connsiteX22" fmla="*/ 0 w 4220472"/>
                      <a:gd name="connsiteY22" fmla="*/ 0 h 15007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4220472" h="1500793" extrusionOk="0">
                        <a:moveTo>
                          <a:pt x="0" y="0"/>
                        </a:moveTo>
                        <a:cubicBezTo>
                          <a:pt x="194579" y="-31356"/>
                          <a:pt x="314856" y="40759"/>
                          <a:pt x="443150" y="0"/>
                        </a:cubicBezTo>
                        <a:cubicBezTo>
                          <a:pt x="571444" y="-40759"/>
                          <a:pt x="852139" y="30657"/>
                          <a:pt x="1055118" y="0"/>
                        </a:cubicBezTo>
                        <a:cubicBezTo>
                          <a:pt x="1258097" y="-30657"/>
                          <a:pt x="1424362" y="35707"/>
                          <a:pt x="1540472" y="0"/>
                        </a:cubicBezTo>
                        <a:cubicBezTo>
                          <a:pt x="1656582" y="-35707"/>
                          <a:pt x="1806036" y="400"/>
                          <a:pt x="1983622" y="0"/>
                        </a:cubicBezTo>
                        <a:cubicBezTo>
                          <a:pt x="2161208" y="-400"/>
                          <a:pt x="2277704" y="31165"/>
                          <a:pt x="2511181" y="0"/>
                        </a:cubicBezTo>
                        <a:cubicBezTo>
                          <a:pt x="2744658" y="-31165"/>
                          <a:pt x="2777195" y="363"/>
                          <a:pt x="2996535" y="0"/>
                        </a:cubicBezTo>
                        <a:cubicBezTo>
                          <a:pt x="3215875" y="-363"/>
                          <a:pt x="3239531" y="17667"/>
                          <a:pt x="3397480" y="0"/>
                        </a:cubicBezTo>
                        <a:cubicBezTo>
                          <a:pt x="3555429" y="-17667"/>
                          <a:pt x="3926000" y="23023"/>
                          <a:pt x="4220472" y="0"/>
                        </a:cubicBezTo>
                        <a:cubicBezTo>
                          <a:pt x="4279787" y="161336"/>
                          <a:pt x="4187228" y="301861"/>
                          <a:pt x="4220472" y="530280"/>
                        </a:cubicBezTo>
                        <a:cubicBezTo>
                          <a:pt x="4253716" y="758699"/>
                          <a:pt x="4189974" y="848257"/>
                          <a:pt x="4220472" y="1060560"/>
                        </a:cubicBezTo>
                        <a:cubicBezTo>
                          <a:pt x="4250970" y="1272863"/>
                          <a:pt x="4191091" y="1351932"/>
                          <a:pt x="4220472" y="1500793"/>
                        </a:cubicBezTo>
                        <a:cubicBezTo>
                          <a:pt x="4112620" y="1549185"/>
                          <a:pt x="3816879" y="1481974"/>
                          <a:pt x="3692913" y="1500793"/>
                        </a:cubicBezTo>
                        <a:cubicBezTo>
                          <a:pt x="3568947" y="1519612"/>
                          <a:pt x="3346017" y="1486020"/>
                          <a:pt x="3123149" y="1500793"/>
                        </a:cubicBezTo>
                        <a:cubicBezTo>
                          <a:pt x="2900281" y="1515566"/>
                          <a:pt x="2678692" y="1490024"/>
                          <a:pt x="2553386" y="1500793"/>
                        </a:cubicBezTo>
                        <a:cubicBezTo>
                          <a:pt x="2428080" y="1511562"/>
                          <a:pt x="2102509" y="1494369"/>
                          <a:pt x="1983622" y="1500793"/>
                        </a:cubicBezTo>
                        <a:cubicBezTo>
                          <a:pt x="1864735" y="1507217"/>
                          <a:pt x="1673068" y="1498090"/>
                          <a:pt x="1540472" y="1500793"/>
                        </a:cubicBezTo>
                        <a:cubicBezTo>
                          <a:pt x="1407876" y="1503496"/>
                          <a:pt x="1284379" y="1469330"/>
                          <a:pt x="1139527" y="1500793"/>
                        </a:cubicBezTo>
                        <a:cubicBezTo>
                          <a:pt x="994675" y="1532256"/>
                          <a:pt x="786568" y="1446126"/>
                          <a:pt x="654173" y="1500793"/>
                        </a:cubicBezTo>
                        <a:cubicBezTo>
                          <a:pt x="521778" y="1555460"/>
                          <a:pt x="142141" y="1436565"/>
                          <a:pt x="0" y="1500793"/>
                        </a:cubicBezTo>
                        <a:cubicBezTo>
                          <a:pt x="-25961" y="1268812"/>
                          <a:pt x="38573" y="1179965"/>
                          <a:pt x="0" y="1030545"/>
                        </a:cubicBezTo>
                        <a:cubicBezTo>
                          <a:pt x="-38573" y="881125"/>
                          <a:pt x="7296" y="653645"/>
                          <a:pt x="0" y="500264"/>
                        </a:cubicBezTo>
                        <a:cubicBezTo>
                          <a:pt x="-7296" y="346883"/>
                          <a:pt x="46176" y="2289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marR="0" lvl="1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marR="0" lvl="2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marR="0" lvl="3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marR="0" lvl="4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marR="0" lvl="5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marR="0" lvl="6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marR="0" lvl="7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marR="0" lvl="8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ro-RO" sz="1600" b="1" dirty="0">
                <a:solidFill>
                  <a:schemeClr val="bg1"/>
                </a:solidFill>
                <a:latin typeface="Livvic" pitchFamily="2" charset="0"/>
              </a:rPr>
              <a:t>A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tingerea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unui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debit maxim de 490.52 Mb/s </a:t>
            </a:r>
            <a:r>
              <a:rPr lang="ro-RO" sz="1600" b="1" dirty="0">
                <a:solidFill>
                  <a:schemeClr val="bg1"/>
                </a:solidFill>
                <a:latin typeface="Livvic" pitchFamily="2" charset="0"/>
              </a:rPr>
              <a:t>pe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downlink</a:t>
            </a:r>
            <a:r>
              <a:rPr lang="ro-RO" sz="1600" b="1" dirty="0">
                <a:solidFill>
                  <a:schemeClr val="bg1"/>
                </a:solidFill>
                <a:latin typeface="Livvic" pitchFamily="2" charset="0"/>
              </a:rPr>
              <a:t> cu aplicația nPerf</a:t>
            </a:r>
            <a:endParaRPr lang="en-US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0" indent="0" algn="just">
              <a:buClr>
                <a:schemeClr val="bg1"/>
              </a:buClr>
              <a:buSzPct val="100000"/>
            </a:pPr>
            <a:endParaRPr lang="en-US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Uplink: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valori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bune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și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stabile,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în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jurul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a 35–40 Mbps</a:t>
            </a:r>
            <a:r>
              <a:rPr lang="ro-RO" sz="1600" b="1" dirty="0">
                <a:solidFill>
                  <a:schemeClr val="bg1"/>
                </a:solidFill>
                <a:latin typeface="Livvic" pitchFamily="2" charset="0"/>
              </a:rPr>
              <a:t>.</a:t>
            </a: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Rezultatele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confirmă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funcționarea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stabilă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a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rețelei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5G Standalone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bazate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pe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arhitectura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Open RAN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6D7FA2-1206-AD7E-4CA9-F45146037D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730" y="578453"/>
            <a:ext cx="1771362" cy="37917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60F7F8-897C-2B2C-3A8D-BE126E520796}"/>
              </a:ext>
            </a:extLst>
          </p:cNvPr>
          <p:cNvSpPr txBox="1"/>
          <p:nvPr/>
        </p:nvSpPr>
        <p:spPr>
          <a:xfrm>
            <a:off x="1067730" y="4565047"/>
            <a:ext cx="18742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b="1" dirty="0">
                <a:solidFill>
                  <a:schemeClr val="bg1"/>
                </a:solidFill>
                <a:latin typeface="Livvic" pitchFamily="2" charset="0"/>
              </a:rPr>
              <a:t>Downlink maxim</a:t>
            </a:r>
            <a:endParaRPr lang="en-US" sz="1600" b="1" dirty="0">
              <a:solidFill>
                <a:schemeClr val="bg1"/>
              </a:solidFill>
              <a:latin typeface="Livvic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270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B0FCA-142B-93C0-2CEF-FB6F29B63D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3BB664-4194-99DF-9F20-59620FDB828B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310F06-2F92-8BA5-CA8C-C3B1DEFA6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Google Shape;248;p35">
            <a:extLst>
              <a:ext uri="{FF2B5EF4-FFF2-40B4-BE49-F238E27FC236}">
                <a16:creationId xmlns:a16="http://schemas.microsoft.com/office/drawing/2014/main" id="{DFB1ED5B-8D85-5748-E810-DC70486D80A9}"/>
              </a:ext>
            </a:extLst>
          </p:cNvPr>
          <p:cNvSpPr txBox="1">
            <a:spLocks/>
          </p:cNvSpPr>
          <p:nvPr/>
        </p:nvSpPr>
        <p:spPr>
          <a:xfrm>
            <a:off x="464820" y="4352836"/>
            <a:ext cx="1205484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ivvic"/>
              <a:buNone/>
              <a:defRPr sz="6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ira Sans Extra Condensed Medium"/>
              <a:buNone/>
              <a:defRPr sz="6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" dirty="0">
                <a:solidFill>
                  <a:schemeClr val="lt1"/>
                </a:solidFill>
              </a:rPr>
              <a:t>06</a:t>
            </a:r>
          </a:p>
        </p:txBody>
      </p:sp>
      <p:sp>
        <p:nvSpPr>
          <p:cNvPr id="7" name="Google Shape;247;p35">
            <a:extLst>
              <a:ext uri="{FF2B5EF4-FFF2-40B4-BE49-F238E27FC236}">
                <a16:creationId xmlns:a16="http://schemas.microsoft.com/office/drawing/2014/main" id="{D112D9F1-1960-09C7-4B68-D2804DC3F8C2}"/>
              </a:ext>
            </a:extLst>
          </p:cNvPr>
          <p:cNvSpPr txBox="1">
            <a:spLocks/>
          </p:cNvSpPr>
          <p:nvPr/>
        </p:nvSpPr>
        <p:spPr>
          <a:xfrm>
            <a:off x="-314732" y="1078779"/>
            <a:ext cx="5798871" cy="109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pPr algn="ctr"/>
            <a:r>
              <a:rPr lang="en-US" sz="3200" dirty="0">
                <a:solidFill>
                  <a:schemeClr val="lt1"/>
                </a:solidFill>
              </a:rPr>
              <a:t>CONCLUZII </a:t>
            </a:r>
            <a:r>
              <a:rPr lang="ro-RO" sz="3200" dirty="0">
                <a:solidFill>
                  <a:schemeClr val="lt1"/>
                </a:solidFill>
              </a:rPr>
              <a:t>Ș</a:t>
            </a:r>
            <a:r>
              <a:rPr lang="en-US" sz="3200" dirty="0">
                <a:solidFill>
                  <a:schemeClr val="lt1"/>
                </a:solidFill>
              </a:rPr>
              <a:t>I DIREC</a:t>
            </a:r>
            <a:r>
              <a:rPr lang="ro-RO" sz="3200" dirty="0">
                <a:solidFill>
                  <a:schemeClr val="lt1"/>
                </a:solidFill>
              </a:rPr>
              <a:t>Ț</a:t>
            </a:r>
            <a:r>
              <a:rPr lang="en-US" sz="3200" dirty="0">
                <a:solidFill>
                  <a:schemeClr val="lt1"/>
                </a:solidFill>
              </a:rPr>
              <a:t>II VIITOARE</a:t>
            </a:r>
            <a:endParaRPr lang="ro-RO" sz="32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899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BACD4-7A68-0C63-457F-369811FE2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65BD248-40CC-1537-7696-D5E092CA2B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EE3C15-0DD7-8DC0-8C10-F78F760ED0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14DB53-BFCA-AA41-C00E-7EB2188CF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Google Shape;657;p30">
            <a:extLst>
              <a:ext uri="{FF2B5EF4-FFF2-40B4-BE49-F238E27FC236}">
                <a16:creationId xmlns:a16="http://schemas.microsoft.com/office/drawing/2014/main" id="{980CF00E-AFCA-3CE1-8AD1-32ACDA48C819}"/>
              </a:ext>
            </a:extLst>
          </p:cNvPr>
          <p:cNvSpPr/>
          <p:nvPr/>
        </p:nvSpPr>
        <p:spPr>
          <a:xfrm rot="10800000">
            <a:off x="0" y="104619"/>
            <a:ext cx="6042696" cy="753295"/>
          </a:xfrm>
          <a:custGeom>
            <a:avLst/>
            <a:gdLst/>
            <a:ahLst/>
            <a:cxnLst/>
            <a:rect l="l" t="t" r="r" b="b"/>
            <a:pathLst>
              <a:path w="183395" h="38588" extrusionOk="0">
                <a:moveTo>
                  <a:pt x="0" y="1"/>
                </a:moveTo>
                <a:lnTo>
                  <a:pt x="0" y="18282"/>
                </a:lnTo>
                <a:lnTo>
                  <a:pt x="20146" y="38519"/>
                </a:lnTo>
                <a:lnTo>
                  <a:pt x="20215" y="38588"/>
                </a:lnTo>
                <a:lnTo>
                  <a:pt x="183395" y="38588"/>
                </a:lnTo>
                <a:lnTo>
                  <a:pt x="183395" y="38156"/>
                </a:lnTo>
                <a:lnTo>
                  <a:pt x="20385" y="38156"/>
                </a:lnTo>
                <a:lnTo>
                  <a:pt x="421" y="18101"/>
                </a:lnTo>
                <a:lnTo>
                  <a:pt x="421" y="1"/>
                </a:lnTo>
                <a:close/>
              </a:path>
            </a:pathLst>
          </a:custGeom>
          <a:solidFill>
            <a:srgbClr val="FFFA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Google Shape;662;p30">
            <a:extLst>
              <a:ext uri="{FF2B5EF4-FFF2-40B4-BE49-F238E27FC236}">
                <a16:creationId xmlns:a16="http://schemas.microsoft.com/office/drawing/2014/main" id="{8A7DC4A8-433F-CF04-104F-D24FD607D7F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671760" flipH="1">
            <a:off x="-80006" y="2092671"/>
            <a:ext cx="3371849" cy="14394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06;p30">
            <a:extLst>
              <a:ext uri="{FF2B5EF4-FFF2-40B4-BE49-F238E27FC236}">
                <a16:creationId xmlns:a16="http://schemas.microsoft.com/office/drawing/2014/main" id="{B88447F1-DE98-872E-1031-B528FF34430F}"/>
              </a:ext>
            </a:extLst>
          </p:cNvPr>
          <p:cNvSpPr txBox="1">
            <a:spLocks/>
          </p:cNvSpPr>
          <p:nvPr/>
        </p:nvSpPr>
        <p:spPr>
          <a:xfrm>
            <a:off x="3113445" y="1976076"/>
            <a:ext cx="5373630" cy="3269998"/>
          </a:xfrm>
          <a:prstGeom prst="rect">
            <a:avLst/>
          </a:prstGeom>
          <a:noFill/>
          <a:ln w="3175">
            <a:solidFill>
              <a:srgbClr val="002060"/>
            </a:solidFill>
            <a:prstDash val="lgDashDotDot"/>
            <a:extLst>
              <a:ext uri="{C807C97D-BFC1-408E-A445-0C87EB9F89A2}">
                <ask:lineSketchStyleProps xmlns:ask="http://schemas.microsoft.com/office/drawing/2018/sketchyshapes" sd="715884565">
                  <a:custGeom>
                    <a:avLst/>
                    <a:gdLst>
                      <a:gd name="connsiteX0" fmla="*/ 0 w 4220472"/>
                      <a:gd name="connsiteY0" fmla="*/ 0 h 1500793"/>
                      <a:gd name="connsiteX1" fmla="*/ 443150 w 4220472"/>
                      <a:gd name="connsiteY1" fmla="*/ 0 h 1500793"/>
                      <a:gd name="connsiteX2" fmla="*/ 1055118 w 4220472"/>
                      <a:gd name="connsiteY2" fmla="*/ 0 h 1500793"/>
                      <a:gd name="connsiteX3" fmla="*/ 1540472 w 4220472"/>
                      <a:gd name="connsiteY3" fmla="*/ 0 h 1500793"/>
                      <a:gd name="connsiteX4" fmla="*/ 1983622 w 4220472"/>
                      <a:gd name="connsiteY4" fmla="*/ 0 h 1500793"/>
                      <a:gd name="connsiteX5" fmla="*/ 2511181 w 4220472"/>
                      <a:gd name="connsiteY5" fmla="*/ 0 h 1500793"/>
                      <a:gd name="connsiteX6" fmla="*/ 2996535 w 4220472"/>
                      <a:gd name="connsiteY6" fmla="*/ 0 h 1500793"/>
                      <a:gd name="connsiteX7" fmla="*/ 3397480 w 4220472"/>
                      <a:gd name="connsiteY7" fmla="*/ 0 h 1500793"/>
                      <a:gd name="connsiteX8" fmla="*/ 4220472 w 4220472"/>
                      <a:gd name="connsiteY8" fmla="*/ 0 h 1500793"/>
                      <a:gd name="connsiteX9" fmla="*/ 4220472 w 4220472"/>
                      <a:gd name="connsiteY9" fmla="*/ 530280 h 1500793"/>
                      <a:gd name="connsiteX10" fmla="*/ 4220472 w 4220472"/>
                      <a:gd name="connsiteY10" fmla="*/ 1060560 h 1500793"/>
                      <a:gd name="connsiteX11" fmla="*/ 4220472 w 4220472"/>
                      <a:gd name="connsiteY11" fmla="*/ 1500793 h 1500793"/>
                      <a:gd name="connsiteX12" fmla="*/ 3692913 w 4220472"/>
                      <a:gd name="connsiteY12" fmla="*/ 1500793 h 1500793"/>
                      <a:gd name="connsiteX13" fmla="*/ 3123149 w 4220472"/>
                      <a:gd name="connsiteY13" fmla="*/ 1500793 h 1500793"/>
                      <a:gd name="connsiteX14" fmla="*/ 2553386 w 4220472"/>
                      <a:gd name="connsiteY14" fmla="*/ 1500793 h 1500793"/>
                      <a:gd name="connsiteX15" fmla="*/ 1983622 w 4220472"/>
                      <a:gd name="connsiteY15" fmla="*/ 1500793 h 1500793"/>
                      <a:gd name="connsiteX16" fmla="*/ 1540472 w 4220472"/>
                      <a:gd name="connsiteY16" fmla="*/ 1500793 h 1500793"/>
                      <a:gd name="connsiteX17" fmla="*/ 1139527 w 4220472"/>
                      <a:gd name="connsiteY17" fmla="*/ 1500793 h 1500793"/>
                      <a:gd name="connsiteX18" fmla="*/ 654173 w 4220472"/>
                      <a:gd name="connsiteY18" fmla="*/ 1500793 h 1500793"/>
                      <a:gd name="connsiteX19" fmla="*/ 0 w 4220472"/>
                      <a:gd name="connsiteY19" fmla="*/ 1500793 h 1500793"/>
                      <a:gd name="connsiteX20" fmla="*/ 0 w 4220472"/>
                      <a:gd name="connsiteY20" fmla="*/ 1030545 h 1500793"/>
                      <a:gd name="connsiteX21" fmla="*/ 0 w 4220472"/>
                      <a:gd name="connsiteY21" fmla="*/ 500264 h 1500793"/>
                      <a:gd name="connsiteX22" fmla="*/ 0 w 4220472"/>
                      <a:gd name="connsiteY22" fmla="*/ 0 h 15007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4220472" h="1500793" extrusionOk="0">
                        <a:moveTo>
                          <a:pt x="0" y="0"/>
                        </a:moveTo>
                        <a:cubicBezTo>
                          <a:pt x="194579" y="-31356"/>
                          <a:pt x="314856" y="40759"/>
                          <a:pt x="443150" y="0"/>
                        </a:cubicBezTo>
                        <a:cubicBezTo>
                          <a:pt x="571444" y="-40759"/>
                          <a:pt x="852139" y="30657"/>
                          <a:pt x="1055118" y="0"/>
                        </a:cubicBezTo>
                        <a:cubicBezTo>
                          <a:pt x="1258097" y="-30657"/>
                          <a:pt x="1424362" y="35707"/>
                          <a:pt x="1540472" y="0"/>
                        </a:cubicBezTo>
                        <a:cubicBezTo>
                          <a:pt x="1656582" y="-35707"/>
                          <a:pt x="1806036" y="400"/>
                          <a:pt x="1983622" y="0"/>
                        </a:cubicBezTo>
                        <a:cubicBezTo>
                          <a:pt x="2161208" y="-400"/>
                          <a:pt x="2277704" y="31165"/>
                          <a:pt x="2511181" y="0"/>
                        </a:cubicBezTo>
                        <a:cubicBezTo>
                          <a:pt x="2744658" y="-31165"/>
                          <a:pt x="2777195" y="363"/>
                          <a:pt x="2996535" y="0"/>
                        </a:cubicBezTo>
                        <a:cubicBezTo>
                          <a:pt x="3215875" y="-363"/>
                          <a:pt x="3239531" y="17667"/>
                          <a:pt x="3397480" y="0"/>
                        </a:cubicBezTo>
                        <a:cubicBezTo>
                          <a:pt x="3555429" y="-17667"/>
                          <a:pt x="3926000" y="23023"/>
                          <a:pt x="4220472" y="0"/>
                        </a:cubicBezTo>
                        <a:cubicBezTo>
                          <a:pt x="4279787" y="161336"/>
                          <a:pt x="4187228" y="301861"/>
                          <a:pt x="4220472" y="530280"/>
                        </a:cubicBezTo>
                        <a:cubicBezTo>
                          <a:pt x="4253716" y="758699"/>
                          <a:pt x="4189974" y="848257"/>
                          <a:pt x="4220472" y="1060560"/>
                        </a:cubicBezTo>
                        <a:cubicBezTo>
                          <a:pt x="4250970" y="1272863"/>
                          <a:pt x="4191091" y="1351932"/>
                          <a:pt x="4220472" y="1500793"/>
                        </a:cubicBezTo>
                        <a:cubicBezTo>
                          <a:pt x="4112620" y="1549185"/>
                          <a:pt x="3816879" y="1481974"/>
                          <a:pt x="3692913" y="1500793"/>
                        </a:cubicBezTo>
                        <a:cubicBezTo>
                          <a:pt x="3568947" y="1519612"/>
                          <a:pt x="3346017" y="1486020"/>
                          <a:pt x="3123149" y="1500793"/>
                        </a:cubicBezTo>
                        <a:cubicBezTo>
                          <a:pt x="2900281" y="1515566"/>
                          <a:pt x="2678692" y="1490024"/>
                          <a:pt x="2553386" y="1500793"/>
                        </a:cubicBezTo>
                        <a:cubicBezTo>
                          <a:pt x="2428080" y="1511562"/>
                          <a:pt x="2102509" y="1494369"/>
                          <a:pt x="1983622" y="1500793"/>
                        </a:cubicBezTo>
                        <a:cubicBezTo>
                          <a:pt x="1864735" y="1507217"/>
                          <a:pt x="1673068" y="1498090"/>
                          <a:pt x="1540472" y="1500793"/>
                        </a:cubicBezTo>
                        <a:cubicBezTo>
                          <a:pt x="1407876" y="1503496"/>
                          <a:pt x="1284379" y="1469330"/>
                          <a:pt x="1139527" y="1500793"/>
                        </a:cubicBezTo>
                        <a:cubicBezTo>
                          <a:pt x="994675" y="1532256"/>
                          <a:pt x="786568" y="1446126"/>
                          <a:pt x="654173" y="1500793"/>
                        </a:cubicBezTo>
                        <a:cubicBezTo>
                          <a:pt x="521778" y="1555460"/>
                          <a:pt x="142141" y="1436565"/>
                          <a:pt x="0" y="1500793"/>
                        </a:cubicBezTo>
                        <a:cubicBezTo>
                          <a:pt x="-25961" y="1268812"/>
                          <a:pt x="38573" y="1179965"/>
                          <a:pt x="0" y="1030545"/>
                        </a:cubicBezTo>
                        <a:cubicBezTo>
                          <a:pt x="-38573" y="881125"/>
                          <a:pt x="7296" y="653645"/>
                          <a:pt x="0" y="500264"/>
                        </a:cubicBezTo>
                        <a:cubicBezTo>
                          <a:pt x="-7296" y="346883"/>
                          <a:pt x="46176" y="2289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marR="0" lvl="1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marR="0" lvl="2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marR="0" lvl="3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marR="0" lvl="4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marR="0" lvl="5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marR="0" lvl="6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marR="0" lvl="7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marR="0" lvl="8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Funcționarea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rețelei</a:t>
            </a:r>
            <a:r>
              <a:rPr lang="ro-RO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depinde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critic de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precizia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ceasului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de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referință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,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iar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orice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deviație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a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semnalului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 GPS 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poate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duce la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degradarea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conexiunii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.</a:t>
            </a: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ro-RO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Rularea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funcțiilor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pe un server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comercial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poate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introduce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variații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ale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timpului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de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răspuns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și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valori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mai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mari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ale jitter-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ului</a:t>
            </a:r>
            <a:r>
              <a:rPr lang="ro-RO" sz="1600" b="1" dirty="0">
                <a:solidFill>
                  <a:schemeClr val="bg1"/>
                </a:solidFill>
                <a:latin typeface="Livvic" pitchFamily="2" charset="0"/>
              </a:rPr>
              <a:t>.</a:t>
            </a: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ro-RO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0" indent="0" algn="just">
              <a:buClr>
                <a:schemeClr val="bg1"/>
              </a:buClr>
              <a:buSzPct val="100000"/>
            </a:pPr>
            <a:endParaRPr lang="ro-RO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GB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FontTx/>
              <a:buChar char="-"/>
            </a:pPr>
            <a:endParaRPr lang="en-GB" sz="1400" b="1" dirty="0">
              <a:solidFill>
                <a:schemeClr val="bg1"/>
              </a:solidFill>
            </a:endParaRPr>
          </a:p>
        </p:txBody>
      </p:sp>
      <p:sp>
        <p:nvSpPr>
          <p:cNvPr id="8" name="Google Shape;259;p36">
            <a:extLst>
              <a:ext uri="{FF2B5EF4-FFF2-40B4-BE49-F238E27FC236}">
                <a16:creationId xmlns:a16="http://schemas.microsoft.com/office/drawing/2014/main" id="{543240F9-1DD0-99BC-920D-3E8CD093A3E5}"/>
              </a:ext>
            </a:extLst>
          </p:cNvPr>
          <p:cNvSpPr txBox="1">
            <a:spLocks/>
          </p:cNvSpPr>
          <p:nvPr/>
        </p:nvSpPr>
        <p:spPr>
          <a:xfrm>
            <a:off x="3577119" y="857915"/>
            <a:ext cx="4931153" cy="456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  <a:defRPr sz="1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pPr algn="ctr"/>
            <a:r>
              <a:rPr lang="ro-RO" sz="2400" dirty="0">
                <a:solidFill>
                  <a:schemeClr val="bg1"/>
                </a:solidFill>
              </a:rPr>
              <a:t>Discuții și provocări</a:t>
            </a:r>
          </a:p>
        </p:txBody>
      </p:sp>
    </p:spTree>
    <p:extLst>
      <p:ext uri="{BB962C8B-B14F-4D97-AF65-F5344CB8AC3E}">
        <p14:creationId xmlns:p14="http://schemas.microsoft.com/office/powerpoint/2010/main" val="2274061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>
          <a:extLst>
            <a:ext uri="{FF2B5EF4-FFF2-40B4-BE49-F238E27FC236}">
              <a16:creationId xmlns:a16="http://schemas.microsoft.com/office/drawing/2014/main" id="{2B141201-7CDA-7979-78EE-33B91919A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1438121-4936-E565-149B-12F2F5A27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102"/>
            <a:ext cx="9144000" cy="5213602"/>
          </a:xfrm>
          <a:prstGeom prst="rect">
            <a:avLst/>
          </a:prstGeom>
        </p:spPr>
      </p:pic>
      <p:pic>
        <p:nvPicPr>
          <p:cNvPr id="8" name="Google Shape;1750;p43">
            <a:extLst>
              <a:ext uri="{FF2B5EF4-FFF2-40B4-BE49-F238E27FC236}">
                <a16:creationId xmlns:a16="http://schemas.microsoft.com/office/drawing/2014/main" id="{8EB9FC67-F650-DB89-D701-C161464DC57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6428" r="19722"/>
          <a:stretch/>
        </p:blipFill>
        <p:spPr>
          <a:xfrm rot="15104412">
            <a:off x="6253098" y="888243"/>
            <a:ext cx="3550465" cy="280213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06;p30">
            <a:extLst>
              <a:ext uri="{FF2B5EF4-FFF2-40B4-BE49-F238E27FC236}">
                <a16:creationId xmlns:a16="http://schemas.microsoft.com/office/drawing/2014/main" id="{E92DBFA4-0F88-B2CF-5F9F-BD07E825E46C}"/>
              </a:ext>
            </a:extLst>
          </p:cNvPr>
          <p:cNvSpPr txBox="1">
            <a:spLocks/>
          </p:cNvSpPr>
          <p:nvPr/>
        </p:nvSpPr>
        <p:spPr>
          <a:xfrm>
            <a:off x="500082" y="1026345"/>
            <a:ext cx="6184182" cy="3090809"/>
          </a:xfrm>
          <a:prstGeom prst="rect">
            <a:avLst/>
          </a:prstGeom>
          <a:noFill/>
          <a:ln w="3175">
            <a:solidFill>
              <a:srgbClr val="002060"/>
            </a:solidFill>
            <a:prstDash val="lgDashDotDot"/>
            <a:extLst>
              <a:ext uri="{C807C97D-BFC1-408E-A445-0C87EB9F89A2}">
                <ask:lineSketchStyleProps xmlns:ask="http://schemas.microsoft.com/office/drawing/2018/sketchyshapes" sd="715884565">
                  <a:custGeom>
                    <a:avLst/>
                    <a:gdLst>
                      <a:gd name="connsiteX0" fmla="*/ 0 w 4220472"/>
                      <a:gd name="connsiteY0" fmla="*/ 0 h 1500793"/>
                      <a:gd name="connsiteX1" fmla="*/ 443150 w 4220472"/>
                      <a:gd name="connsiteY1" fmla="*/ 0 h 1500793"/>
                      <a:gd name="connsiteX2" fmla="*/ 1055118 w 4220472"/>
                      <a:gd name="connsiteY2" fmla="*/ 0 h 1500793"/>
                      <a:gd name="connsiteX3" fmla="*/ 1540472 w 4220472"/>
                      <a:gd name="connsiteY3" fmla="*/ 0 h 1500793"/>
                      <a:gd name="connsiteX4" fmla="*/ 1983622 w 4220472"/>
                      <a:gd name="connsiteY4" fmla="*/ 0 h 1500793"/>
                      <a:gd name="connsiteX5" fmla="*/ 2511181 w 4220472"/>
                      <a:gd name="connsiteY5" fmla="*/ 0 h 1500793"/>
                      <a:gd name="connsiteX6" fmla="*/ 2996535 w 4220472"/>
                      <a:gd name="connsiteY6" fmla="*/ 0 h 1500793"/>
                      <a:gd name="connsiteX7" fmla="*/ 3397480 w 4220472"/>
                      <a:gd name="connsiteY7" fmla="*/ 0 h 1500793"/>
                      <a:gd name="connsiteX8" fmla="*/ 4220472 w 4220472"/>
                      <a:gd name="connsiteY8" fmla="*/ 0 h 1500793"/>
                      <a:gd name="connsiteX9" fmla="*/ 4220472 w 4220472"/>
                      <a:gd name="connsiteY9" fmla="*/ 530280 h 1500793"/>
                      <a:gd name="connsiteX10" fmla="*/ 4220472 w 4220472"/>
                      <a:gd name="connsiteY10" fmla="*/ 1060560 h 1500793"/>
                      <a:gd name="connsiteX11" fmla="*/ 4220472 w 4220472"/>
                      <a:gd name="connsiteY11" fmla="*/ 1500793 h 1500793"/>
                      <a:gd name="connsiteX12" fmla="*/ 3692913 w 4220472"/>
                      <a:gd name="connsiteY12" fmla="*/ 1500793 h 1500793"/>
                      <a:gd name="connsiteX13" fmla="*/ 3123149 w 4220472"/>
                      <a:gd name="connsiteY13" fmla="*/ 1500793 h 1500793"/>
                      <a:gd name="connsiteX14" fmla="*/ 2553386 w 4220472"/>
                      <a:gd name="connsiteY14" fmla="*/ 1500793 h 1500793"/>
                      <a:gd name="connsiteX15" fmla="*/ 1983622 w 4220472"/>
                      <a:gd name="connsiteY15" fmla="*/ 1500793 h 1500793"/>
                      <a:gd name="connsiteX16" fmla="*/ 1540472 w 4220472"/>
                      <a:gd name="connsiteY16" fmla="*/ 1500793 h 1500793"/>
                      <a:gd name="connsiteX17" fmla="*/ 1139527 w 4220472"/>
                      <a:gd name="connsiteY17" fmla="*/ 1500793 h 1500793"/>
                      <a:gd name="connsiteX18" fmla="*/ 654173 w 4220472"/>
                      <a:gd name="connsiteY18" fmla="*/ 1500793 h 1500793"/>
                      <a:gd name="connsiteX19" fmla="*/ 0 w 4220472"/>
                      <a:gd name="connsiteY19" fmla="*/ 1500793 h 1500793"/>
                      <a:gd name="connsiteX20" fmla="*/ 0 w 4220472"/>
                      <a:gd name="connsiteY20" fmla="*/ 1030545 h 1500793"/>
                      <a:gd name="connsiteX21" fmla="*/ 0 w 4220472"/>
                      <a:gd name="connsiteY21" fmla="*/ 500264 h 1500793"/>
                      <a:gd name="connsiteX22" fmla="*/ 0 w 4220472"/>
                      <a:gd name="connsiteY22" fmla="*/ 0 h 15007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4220472" h="1500793" extrusionOk="0">
                        <a:moveTo>
                          <a:pt x="0" y="0"/>
                        </a:moveTo>
                        <a:cubicBezTo>
                          <a:pt x="194579" y="-31356"/>
                          <a:pt x="314856" y="40759"/>
                          <a:pt x="443150" y="0"/>
                        </a:cubicBezTo>
                        <a:cubicBezTo>
                          <a:pt x="571444" y="-40759"/>
                          <a:pt x="852139" y="30657"/>
                          <a:pt x="1055118" y="0"/>
                        </a:cubicBezTo>
                        <a:cubicBezTo>
                          <a:pt x="1258097" y="-30657"/>
                          <a:pt x="1424362" y="35707"/>
                          <a:pt x="1540472" y="0"/>
                        </a:cubicBezTo>
                        <a:cubicBezTo>
                          <a:pt x="1656582" y="-35707"/>
                          <a:pt x="1806036" y="400"/>
                          <a:pt x="1983622" y="0"/>
                        </a:cubicBezTo>
                        <a:cubicBezTo>
                          <a:pt x="2161208" y="-400"/>
                          <a:pt x="2277704" y="31165"/>
                          <a:pt x="2511181" y="0"/>
                        </a:cubicBezTo>
                        <a:cubicBezTo>
                          <a:pt x="2744658" y="-31165"/>
                          <a:pt x="2777195" y="363"/>
                          <a:pt x="2996535" y="0"/>
                        </a:cubicBezTo>
                        <a:cubicBezTo>
                          <a:pt x="3215875" y="-363"/>
                          <a:pt x="3239531" y="17667"/>
                          <a:pt x="3397480" y="0"/>
                        </a:cubicBezTo>
                        <a:cubicBezTo>
                          <a:pt x="3555429" y="-17667"/>
                          <a:pt x="3926000" y="23023"/>
                          <a:pt x="4220472" y="0"/>
                        </a:cubicBezTo>
                        <a:cubicBezTo>
                          <a:pt x="4279787" y="161336"/>
                          <a:pt x="4187228" y="301861"/>
                          <a:pt x="4220472" y="530280"/>
                        </a:cubicBezTo>
                        <a:cubicBezTo>
                          <a:pt x="4253716" y="758699"/>
                          <a:pt x="4189974" y="848257"/>
                          <a:pt x="4220472" y="1060560"/>
                        </a:cubicBezTo>
                        <a:cubicBezTo>
                          <a:pt x="4250970" y="1272863"/>
                          <a:pt x="4191091" y="1351932"/>
                          <a:pt x="4220472" y="1500793"/>
                        </a:cubicBezTo>
                        <a:cubicBezTo>
                          <a:pt x="4112620" y="1549185"/>
                          <a:pt x="3816879" y="1481974"/>
                          <a:pt x="3692913" y="1500793"/>
                        </a:cubicBezTo>
                        <a:cubicBezTo>
                          <a:pt x="3568947" y="1519612"/>
                          <a:pt x="3346017" y="1486020"/>
                          <a:pt x="3123149" y="1500793"/>
                        </a:cubicBezTo>
                        <a:cubicBezTo>
                          <a:pt x="2900281" y="1515566"/>
                          <a:pt x="2678692" y="1490024"/>
                          <a:pt x="2553386" y="1500793"/>
                        </a:cubicBezTo>
                        <a:cubicBezTo>
                          <a:pt x="2428080" y="1511562"/>
                          <a:pt x="2102509" y="1494369"/>
                          <a:pt x="1983622" y="1500793"/>
                        </a:cubicBezTo>
                        <a:cubicBezTo>
                          <a:pt x="1864735" y="1507217"/>
                          <a:pt x="1673068" y="1498090"/>
                          <a:pt x="1540472" y="1500793"/>
                        </a:cubicBezTo>
                        <a:cubicBezTo>
                          <a:pt x="1407876" y="1503496"/>
                          <a:pt x="1284379" y="1469330"/>
                          <a:pt x="1139527" y="1500793"/>
                        </a:cubicBezTo>
                        <a:cubicBezTo>
                          <a:pt x="994675" y="1532256"/>
                          <a:pt x="786568" y="1446126"/>
                          <a:pt x="654173" y="1500793"/>
                        </a:cubicBezTo>
                        <a:cubicBezTo>
                          <a:pt x="521778" y="1555460"/>
                          <a:pt x="142141" y="1436565"/>
                          <a:pt x="0" y="1500793"/>
                        </a:cubicBezTo>
                        <a:cubicBezTo>
                          <a:pt x="-25961" y="1268812"/>
                          <a:pt x="38573" y="1179965"/>
                          <a:pt x="0" y="1030545"/>
                        </a:cubicBezTo>
                        <a:cubicBezTo>
                          <a:pt x="-38573" y="881125"/>
                          <a:pt x="7296" y="653645"/>
                          <a:pt x="0" y="500264"/>
                        </a:cubicBezTo>
                        <a:cubicBezTo>
                          <a:pt x="-7296" y="346883"/>
                          <a:pt x="46176" y="2289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marR="0" lvl="1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marR="0" lvl="2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marR="0" lvl="3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marR="0" lvl="4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marR="0" lvl="5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marR="0" lvl="6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marR="0" lvl="7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marR="0" lvl="8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None/>
              <a:defRPr sz="1200" b="0" i="0" u="none" strike="noStrike" cap="non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A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fost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demonstrată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funcționarea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stabilă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a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unei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infrastructuri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5G Standalone Open RAN multi-vendor,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bazată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pe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integrarea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RU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Benetel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,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Accelleran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vRAN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și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nucleul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Open5GS</a:t>
            </a: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ro-RO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Rezultatele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experimentale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, cu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viteze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de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până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la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aproximativ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 490 Mb/s 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și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latențe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stabile,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confirmă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viabilitatea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practică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a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arhitecturii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Open RAN</a:t>
            </a: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ro-RO" sz="1600" b="1" dirty="0">
              <a:solidFill>
                <a:schemeClr val="bg1"/>
              </a:solidFill>
              <a:latin typeface="Livvic" pitchFamily="2" charset="0"/>
            </a:endParaRPr>
          </a:p>
          <a:p>
            <a:pPr marL="285750" indent="-285750" algn="just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Extinderea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pentru</a:t>
            </a:r>
            <a:r>
              <a:rPr lang="ro-RO" sz="1600" b="1" dirty="0">
                <a:solidFill>
                  <a:schemeClr val="bg1"/>
                </a:solidFill>
                <a:latin typeface="Livvic" pitchFamily="2" charset="0"/>
              </a:rPr>
              <a:t> mai mulți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utilizatori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simultan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 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și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pentru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distribuirea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componentelor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 RAN pe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servere</a:t>
            </a:r>
            <a:r>
              <a:rPr lang="en-US" sz="1600" b="1" dirty="0">
                <a:solidFill>
                  <a:schemeClr val="bg1"/>
                </a:solidFill>
                <a:latin typeface="Livvic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Livvic" pitchFamily="2" charset="0"/>
              </a:rPr>
              <a:t>diferite</a:t>
            </a:r>
            <a:endParaRPr lang="en-GB" sz="1600" b="1" dirty="0">
              <a:solidFill>
                <a:schemeClr val="bg1"/>
              </a:solidFill>
              <a:latin typeface="Livvic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1628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FAE60AE-7FD6-E9AC-CA77-AD3994CC1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Google Shape;662;p30">
            <a:extLst>
              <a:ext uri="{FF2B5EF4-FFF2-40B4-BE49-F238E27FC236}">
                <a16:creationId xmlns:a16="http://schemas.microsoft.com/office/drawing/2014/main" id="{FCB65BE9-9064-061F-56F4-74D518B633C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5128688" flipH="1">
            <a:off x="6031408" y="824683"/>
            <a:ext cx="2651379" cy="126825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556;p47">
            <a:extLst>
              <a:ext uri="{FF2B5EF4-FFF2-40B4-BE49-F238E27FC236}">
                <a16:creationId xmlns:a16="http://schemas.microsoft.com/office/drawing/2014/main" id="{B78D7A9D-6A1F-6387-016C-A3AB3195DFA2}"/>
              </a:ext>
            </a:extLst>
          </p:cNvPr>
          <p:cNvSpPr txBox="1">
            <a:spLocks/>
          </p:cNvSpPr>
          <p:nvPr/>
        </p:nvSpPr>
        <p:spPr>
          <a:xfrm>
            <a:off x="2823469" y="1821180"/>
            <a:ext cx="3350351" cy="9829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200" b="1" dirty="0" err="1">
                <a:solidFill>
                  <a:schemeClr val="lt1"/>
                </a:solidFill>
                <a:latin typeface="Livvic" pitchFamily="2" charset="0"/>
              </a:rPr>
              <a:t>Vă</a:t>
            </a:r>
            <a:r>
              <a:rPr lang="en-US" sz="3200" b="1" dirty="0">
                <a:solidFill>
                  <a:schemeClr val="lt1"/>
                </a:solidFill>
                <a:latin typeface="Livvic" pitchFamily="2" charset="0"/>
              </a:rPr>
              <a:t> </a:t>
            </a:r>
            <a:r>
              <a:rPr lang="en-US" sz="3200" b="1" dirty="0" err="1">
                <a:solidFill>
                  <a:schemeClr val="lt1"/>
                </a:solidFill>
                <a:latin typeface="Livvic" pitchFamily="2" charset="0"/>
              </a:rPr>
              <a:t>mulțumesc</a:t>
            </a:r>
            <a:r>
              <a:rPr lang="en-US" sz="3200" b="1" dirty="0">
                <a:solidFill>
                  <a:schemeClr val="lt1"/>
                </a:solidFill>
                <a:latin typeface="Livvic" pitchFamily="2" charset="0"/>
              </a:rPr>
              <a:t> </a:t>
            </a:r>
            <a:r>
              <a:rPr lang="en-US" sz="3200" b="1" dirty="0" err="1">
                <a:solidFill>
                  <a:schemeClr val="lt1"/>
                </a:solidFill>
                <a:latin typeface="Livvic" pitchFamily="2" charset="0"/>
              </a:rPr>
              <a:t>pentru</a:t>
            </a:r>
            <a:r>
              <a:rPr lang="en-US" sz="3200" b="1" dirty="0">
                <a:solidFill>
                  <a:schemeClr val="lt1"/>
                </a:solidFill>
                <a:latin typeface="Livvic" pitchFamily="2" charset="0"/>
              </a:rPr>
              <a:t> </a:t>
            </a:r>
            <a:r>
              <a:rPr lang="en-US" sz="3200" b="1" dirty="0" err="1">
                <a:solidFill>
                  <a:schemeClr val="lt1"/>
                </a:solidFill>
                <a:latin typeface="Livvic" pitchFamily="2" charset="0"/>
              </a:rPr>
              <a:t>atenție</a:t>
            </a:r>
            <a:r>
              <a:rPr lang="en-US" sz="3200" b="1" dirty="0">
                <a:solidFill>
                  <a:schemeClr val="lt1"/>
                </a:solidFill>
                <a:latin typeface="Livvic" pitchFamily="2" charset="0"/>
              </a:rPr>
              <a:t>!</a:t>
            </a:r>
            <a:endParaRPr lang="ro-RO" sz="3200" b="1" dirty="0">
              <a:solidFill>
                <a:schemeClr val="lt1"/>
              </a:solidFill>
              <a:latin typeface="Livvic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6E78B7-16CB-61F0-5866-AF4ED0F328B4}"/>
              </a:ext>
            </a:extLst>
          </p:cNvPr>
          <p:cNvSpPr/>
          <p:nvPr/>
        </p:nvSpPr>
        <p:spPr>
          <a:xfrm>
            <a:off x="273523" y="3940682"/>
            <a:ext cx="473390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chemeClr val="bg1"/>
                </a:solidFill>
                <a:latin typeface="Catamaran Light"/>
              </a:rPr>
              <a:t>Student: </a:t>
            </a:r>
            <a:r>
              <a:rPr lang="en-US" b="1" dirty="0" err="1">
                <a:solidFill>
                  <a:schemeClr val="bg1"/>
                </a:solidFill>
                <a:latin typeface="Catamaran Light"/>
              </a:rPr>
              <a:t>Duță</a:t>
            </a:r>
            <a:r>
              <a:rPr lang="en-US" b="1" dirty="0">
                <a:solidFill>
                  <a:schemeClr val="bg1"/>
                </a:solidFill>
                <a:latin typeface="Catamaran Light"/>
              </a:rPr>
              <a:t> Robert-Georgian</a:t>
            </a:r>
          </a:p>
          <a:p>
            <a:pPr>
              <a:spcBef>
                <a:spcPts val="600"/>
              </a:spcBef>
            </a:pPr>
            <a:endParaRPr lang="en-US" b="1" dirty="0">
              <a:solidFill>
                <a:schemeClr val="bg1"/>
              </a:solidFill>
              <a:latin typeface="Catamaran Light"/>
            </a:endParaRPr>
          </a:p>
          <a:p>
            <a:pPr>
              <a:spcBef>
                <a:spcPts val="600"/>
              </a:spcBef>
            </a:pPr>
            <a:r>
              <a:rPr lang="en-US" b="1" dirty="0" err="1">
                <a:solidFill>
                  <a:schemeClr val="bg1"/>
                </a:solidFill>
                <a:latin typeface="Catamaran Light"/>
              </a:rPr>
              <a:t>Conducători</a:t>
            </a:r>
            <a:r>
              <a:rPr lang="en-US" b="1" dirty="0">
                <a:solidFill>
                  <a:schemeClr val="bg1"/>
                </a:solidFill>
                <a:latin typeface="Catamaran Light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atamaran Light"/>
              </a:rPr>
              <a:t>științifici</a:t>
            </a:r>
            <a:r>
              <a:rPr lang="en-US" b="1" dirty="0">
                <a:solidFill>
                  <a:schemeClr val="bg1"/>
                </a:solidFill>
                <a:latin typeface="Catamaran Light"/>
              </a:rPr>
              <a:t>: Prof. dr. </a:t>
            </a:r>
            <a:r>
              <a:rPr lang="en-US" b="1" dirty="0" err="1">
                <a:solidFill>
                  <a:schemeClr val="bg1"/>
                </a:solidFill>
                <a:latin typeface="Catamaran Light"/>
              </a:rPr>
              <a:t>ing.Alexandru</a:t>
            </a:r>
            <a:r>
              <a:rPr lang="en-US" b="1" dirty="0">
                <a:solidFill>
                  <a:schemeClr val="bg1"/>
                </a:solidFill>
                <a:latin typeface="Catamaran Light"/>
              </a:rPr>
              <a:t> MARȚIAN</a:t>
            </a:r>
          </a:p>
          <a:p>
            <a:pPr>
              <a:spcBef>
                <a:spcPts val="600"/>
              </a:spcBef>
            </a:pPr>
            <a:r>
              <a:rPr lang="en-US" b="1" dirty="0">
                <a:solidFill>
                  <a:schemeClr val="bg1"/>
                </a:solidFill>
                <a:latin typeface="Catamaran Light"/>
              </a:rPr>
              <a:t>	                   As. </a:t>
            </a:r>
            <a:r>
              <a:rPr lang="en-US" b="1" dirty="0" err="1">
                <a:solidFill>
                  <a:schemeClr val="bg1"/>
                </a:solidFill>
                <a:latin typeface="Catamaran Light"/>
              </a:rPr>
              <a:t>Drd</a:t>
            </a:r>
            <a:r>
              <a:rPr lang="en-US" b="1" dirty="0">
                <a:solidFill>
                  <a:schemeClr val="bg1"/>
                </a:solidFill>
                <a:latin typeface="Catamaran Light"/>
              </a:rPr>
              <a:t>. Ing. Teodora-Cristina STOIAN</a:t>
            </a:r>
            <a:endParaRPr lang="ro-RO" b="1" dirty="0">
              <a:solidFill>
                <a:schemeClr val="bg1"/>
              </a:solidFill>
              <a:latin typeface="Catamaran Light"/>
            </a:endParaRPr>
          </a:p>
          <a:p>
            <a:pPr>
              <a:spcBef>
                <a:spcPts val="600"/>
              </a:spcBef>
            </a:pPr>
            <a:endParaRPr lang="ro-RO" b="1" dirty="0">
              <a:solidFill>
                <a:schemeClr val="bg1"/>
              </a:solidFill>
              <a:latin typeface="Catamaran Light"/>
            </a:endParaRPr>
          </a:p>
        </p:txBody>
      </p:sp>
      <p:pic>
        <p:nvPicPr>
          <p:cNvPr id="14" name="Picture 13" descr="Facultatea de Electronică, Telecomunicații și Tehnologia Informației -  Universitatea Politehnica din Bucuresti">
            <a:extLst>
              <a:ext uri="{FF2B5EF4-FFF2-40B4-BE49-F238E27FC236}">
                <a16:creationId xmlns:a16="http://schemas.microsoft.com/office/drawing/2014/main" id="{D9713112-8E74-9E69-F98A-0420A84F7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8971" y="3771205"/>
            <a:ext cx="1231506" cy="1231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13A39393-7652-E26D-489D-8BFC1AF96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820" y="3771205"/>
            <a:ext cx="1231506" cy="1231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ngineering Project Proposal by Slidesgo">
  <a:themeElements>
    <a:clrScheme name="Simple Light">
      <a:dk1>
        <a:srgbClr val="434343"/>
      </a:dk1>
      <a:lt1>
        <a:srgbClr val="FFFFFF"/>
      </a:lt1>
      <a:dk2>
        <a:srgbClr val="595959"/>
      </a:dk2>
      <a:lt2>
        <a:srgbClr val="EEEEEE"/>
      </a:lt2>
      <a:accent1>
        <a:srgbClr val="908269"/>
      </a:accent1>
      <a:accent2>
        <a:srgbClr val="212121"/>
      </a:accent2>
      <a:accent3>
        <a:srgbClr val="CFC3AC"/>
      </a:accent3>
      <a:accent4>
        <a:srgbClr val="976E26"/>
      </a:accent4>
      <a:accent5>
        <a:srgbClr val="927D59"/>
      </a:accent5>
      <a:accent6>
        <a:srgbClr val="584F3E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6045</TotalTime>
  <Words>2094</Words>
  <Application>Microsoft Office PowerPoint</Application>
  <PresentationFormat>On-screen Show (16:9)</PresentationFormat>
  <Paragraphs>136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Catamaran Light</vt:lpstr>
      <vt:lpstr>Fira Sans Extra Condensed Medium</vt:lpstr>
      <vt:lpstr>Livvic</vt:lpstr>
      <vt:lpstr>Engineering Project Proposal by Slidesgo</vt:lpstr>
      <vt:lpstr>Evaluarea performanței unei rețele 5G Standalone comercială bazată pe arhitectura Open RAN </vt:lpstr>
      <vt:lpstr>Cuprins</vt:lpstr>
      <vt:lpstr>PowerPoint Presentation</vt:lpstr>
      <vt:lpstr>Introducere în 5G și Open RAN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Tehnologia NB-IoT</dc:title>
  <dc:creator>Robik</dc:creator>
  <cp:lastModifiedBy>Robert Duta</cp:lastModifiedBy>
  <cp:revision>157</cp:revision>
  <dcterms:modified xsi:type="dcterms:W3CDTF">2026-06-26T10:25:08Z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7222825-62ea-40f3-96b5-5375c07996e2_Enabled">
    <vt:lpwstr>true</vt:lpwstr>
  </property>
  <property fmtid="{D5CDD505-2E9C-101B-9397-08002B2CF9AE}" pid="3" name="MSIP_Label_07222825-62ea-40f3-96b5-5375c07996e2_SetDate">
    <vt:lpwstr>2024-05-28T21:01:37Z</vt:lpwstr>
  </property>
  <property fmtid="{D5CDD505-2E9C-101B-9397-08002B2CF9AE}" pid="4" name="MSIP_Label_07222825-62ea-40f3-96b5-5375c07996e2_Method">
    <vt:lpwstr>Privileged</vt:lpwstr>
  </property>
  <property fmtid="{D5CDD505-2E9C-101B-9397-08002B2CF9AE}" pid="5" name="MSIP_Label_07222825-62ea-40f3-96b5-5375c07996e2_Name">
    <vt:lpwstr>unrestricted_parent.2</vt:lpwstr>
  </property>
  <property fmtid="{D5CDD505-2E9C-101B-9397-08002B2CF9AE}" pid="6" name="MSIP_Label_07222825-62ea-40f3-96b5-5375c07996e2_SiteId">
    <vt:lpwstr>90c7a20a-f34b-40bf-bc48-b9253b6f5d20</vt:lpwstr>
  </property>
  <property fmtid="{D5CDD505-2E9C-101B-9397-08002B2CF9AE}" pid="7" name="MSIP_Label_07222825-62ea-40f3-96b5-5375c07996e2_ActionId">
    <vt:lpwstr>caa43bc6-fc97-450d-9cad-30d6a7f77505</vt:lpwstr>
  </property>
  <property fmtid="{D5CDD505-2E9C-101B-9397-08002B2CF9AE}" pid="8" name="MSIP_Label_07222825-62ea-40f3-96b5-5375c07996e2_ContentBits">
    <vt:lpwstr>0</vt:lpwstr>
  </property>
</Properties>
</file>